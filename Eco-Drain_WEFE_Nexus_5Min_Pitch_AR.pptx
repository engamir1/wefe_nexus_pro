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950" b="1">
                <a:solidFill>
                  <a:srgbClr val="15B5A4"/>
                </a:solidFill>
              </a:defRPr>
            </a:pPr>
            <a:r>
              <a:t>الشريحة 1 من 3 | عرض تنفيذي في 5 دقائق | برنامج تمويل المرونة ومحور WEFE</a:t>
            </a:r>
          </a:p>
          <a:p>
            <a:pPr algn="r">
              <a:defRPr sz="1900" b="1">
                <a:solidFill>
                  <a:srgbClr val="F8FAFC"/>
                </a:solidFill>
              </a:defRPr>
            </a:pPr>
            <a:r>
              <a:t>إيكو-درين (Eco-Drain): إحلال وتجديد شبكات الصرف المغطى الذكية ومقاومة التلاعب</a:t>
            </a:r>
          </a:p>
          <a:p>
            <a:pPr algn="r">
              <a:defRPr sz="1100">
                <a:solidFill>
                  <a:srgbClr val="F0C860"/>
                </a:solidFill>
              </a:defRPr>
            </a:pPr>
            <a:r>
              <a:t>1. عنوان المشروع والأزمة الهيدروليكية | 3. الجهة القائدة، الشركاء وهيكل الحوكمة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42255" cy="237744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1600200"/>
            <a:ext cx="487649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200" b="1">
                <a:solidFill>
                  <a:srgbClr val="EF4444"/>
                </a:solidFill>
              </a:defRPr>
            </a:pPr>
            <a:r>
              <a:t>🚨 1. بيان المشكلة المائية وتدهور الشبكات بالدلتا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65960"/>
            <a:ext cx="4876495" cy="1783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950">
                <a:solidFill>
                  <a:srgbClr val="F8FAFC"/>
                </a:solidFill>
              </a:defRPr>
            </a:pPr>
            <a:r>
              <a:t>• الفقر المائي الحرج: حصة مصر الثابتة 55.5 مليار م³ لـ 106+ مليون نسمة تعني نصيب فرد 560 م³/سنة (تحت خط الفقر المائي العالمي 1,000 م³).</a:t>
            </a:r>
          </a:p>
          <a:p>
            <a:pPr algn="r">
              <a:defRPr sz="950">
                <a:solidFill>
                  <a:srgbClr val="F8FAFC"/>
                </a:solidFill>
              </a:defRPr>
            </a:pPr>
            <a:r>
              <a:t>• 2.3 مليون فدان متقادمة: شبكات الصرف المغطى تجاوزت عمرها التصميمي (20-25 سنة) مسببة تغدق الجذور وتملح التربة وخسارة 10-30% من المحاصيل.</a:t>
            </a:r>
          </a:p>
          <a:p>
            <a:pPr algn="r">
              <a:defRPr sz="950">
                <a:solidFill>
                  <a:srgbClr val="F8FAFC"/>
                </a:solidFill>
              </a:defRPr>
            </a:pPr>
            <a:r>
              <a:t>• أزمة البنية غير المرئية: الشبكات مدفونة تحت الأرض؛ لا يمكن فحصها بصرياً وتتأخر الصيانة لسنوات حتى تظهر أعراض تلف المحصول.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77639"/>
            <a:ext cx="5242255" cy="242316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114799"/>
            <a:ext cx="487649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200" b="1">
                <a:solidFill>
                  <a:srgbClr val="F0C860"/>
                </a:solidFill>
              </a:defRPr>
            </a:pPr>
            <a:r>
              <a:t>🛡️ 2. تحدي التلاعب الزراعي وابتكار الغرف غير المرئية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480559"/>
            <a:ext cx="4876495" cy="1828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950">
                <a:solidFill>
                  <a:srgbClr val="F8FAFC"/>
                </a:solidFill>
              </a:defRPr>
            </a:pPr>
            <a:r>
              <a:t>• التعديات الزراعية العشوائية: سجلات هيئة الصرف (EPADP) توثق أن 25-40% من أعطال الصرف ناجمة عن سد المزارعين للمجمعات لحبس المياه للأرز.</a:t>
            </a:r>
          </a:p>
          <a:p>
            <a:pPr algn="r">
              <a:defRPr sz="950">
                <a:solidFill>
                  <a:srgbClr val="F8FAFC"/>
                </a:solidFill>
              </a:defRPr>
            </a:pPr>
            <a:r>
              <a:t>• ابتكار الغرف الغاطسة: استبدال الغرف السطحية بغرف مدفونة 30-50 سم تحت الأرض مع شرائح RFID ومواقع GPS للصيانة الرسمية فقط.</a:t>
            </a:r>
          </a:p>
          <a:p>
            <a:pPr algn="r">
              <a:defRPr sz="950">
                <a:solidFill>
                  <a:srgbClr val="F8FAFC"/>
                </a:solidFill>
              </a:defRPr>
            </a:pPr>
            <a:r>
              <a:t>• إنذار لحظي مشفر: حساسات MPU6050 ترصد أي اهتزاز أو حفر (&gt;2.5g) وتبث إنذار طوارئ GPS مشفر بـ AES-128 عبر NB-IoT إلى مركز التحكم.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93776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200" b="1">
                <a:solidFill>
                  <a:srgbClr val="15B5A4"/>
                </a:solidFill>
              </a:defRPr>
            </a:pPr>
            <a:r>
              <a:t>🏛️ 3. الجهة القائدة، الشركاء وهيكل الحوكمة المؤسسية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4846320" cy="4343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000" b="1">
                <a:solidFill>
                  <a:srgbClr val="F0C860"/>
                </a:solidFill>
              </a:defRPr>
            </a:pPr>
            <a:r>
              <a:t>• الجهة القائدة التنفيذية: وزارة الموارد المائية والري (MWRI) / الهيئة العامة لمشروعات الصرف (EPADP - المكتب الفني للوجه البحري).</a:t>
            </a:r>
          </a:p>
          <a:p>
            <a:pPr algn="r">
              <a:defRPr sz="900">
                <a:solidFill>
                  <a:srgbClr val="F8FAFC"/>
                </a:solidFill>
              </a:defRPr>
            </a:pPr>
            <a:r>
              <a:t>• الشركاء الفنيون والزراعيون: معهد بحوث الصرف (DRI) للمواصفات والتحقق المستقل، ووزارة الزراعة (MALR) لتحسين المحاصيل والإرشاد.</a:t>
            </a:r>
          </a:p>
          <a:p>
            <a:pPr algn="r">
              <a:defRPr sz="900">
                <a:solidFill>
                  <a:srgbClr val="F8FAFC"/>
                </a:solidFill>
              </a:defRPr>
            </a:pPr>
            <a:r>
              <a:t>• شريك الطاقة والربط الشبكي: هيئة الطاقة المتجددة (NREA) وجهاز تنظيم الكهرباء (EgyptERA) لتطبيق صافي القياس (Net Metering).</a:t>
            </a:r>
          </a:p>
          <a:p>
            <a:pPr algn="r">
              <a:defRPr sz="900">
                <a:solidFill>
                  <a:srgbClr val="F8FAFC"/>
                </a:solidFill>
              </a:defRPr>
            </a:pPr>
            <a:r>
              <a:t>• الحوكمة المجتمعية والميدانية: روابط مستخدمي المياه (WUAs) للمشاركة في إدارة المياه عبر تطبيق المحمول (Smart Farmer Drainage).</a:t>
            </a:r>
          </a:p>
          <a:p>
            <a:pPr algn="r">
              <a:defRPr sz="900">
                <a:solidFill>
                  <a:srgbClr val="F8FAFC"/>
                </a:solidFill>
              </a:defRPr>
            </a:pPr>
            <a:r>
              <a:t>• هيكل الحوكمة متعدد المستويات: • لجنة وزارية توجيهية عليا (الري، الزراعة، البيئة، المالية).</a:t>
            </a:r>
            <a:br/>
            <a:r>
              <a:t>• وحدة مخصصة لإدارة المشروع (PIU) داخل هيئة الصرف.</a:t>
            </a:r>
            <a:br/>
            <a:r>
              <a:t>• لجان محلية بالمحافظات لروابط المزارعين في كفر الشيخ والدقهلية.</a:t>
            </a:r>
          </a:p>
          <a:p>
            <a:pPr algn="r">
              <a:defRPr sz="900">
                <a:solidFill>
                  <a:srgbClr val="F8FAFC"/>
                </a:solidFill>
              </a:defRPr>
            </a:pPr>
            <a:r>
              <a:t>• التوافق الاستراتيجي الوطني: متوافق تماماً مع مبادرة 'منظومة المياه والري 2.0'، ورؤية مصر 2030، واستراتيجية تغير المناخ 2050.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950" b="1">
                <a:solidFill>
                  <a:srgbClr val="15B5A4"/>
                </a:solidFill>
              </a:defRPr>
            </a:pPr>
            <a:r>
              <a:t>الشريحة 2 من 3 | عرض تنفيذي في 5 دقائق | برنامج تمويل المرونة ومحور WEFE</a:t>
            </a:r>
          </a:p>
          <a:p>
            <a:pPr algn="r">
              <a:defRPr sz="1900" b="1">
                <a:solidFill>
                  <a:srgbClr val="F8FAFC"/>
                </a:solidFill>
              </a:defRPr>
            </a:pPr>
            <a:r>
              <a:t>تدخلات WEFE المتكاملة، مصفوفة الفرز الرسمية، وتعزيز الجدوى البنكية</a:t>
            </a:r>
          </a:p>
          <a:p>
            <a:pPr algn="r">
              <a:defRPr sz="1100">
                <a:solidFill>
                  <a:srgbClr val="F0C860"/>
                </a:solidFill>
              </a:defRPr>
            </a:pPr>
            <a:r>
              <a:t>2. التدخلات الرئيسية ومنافع WEFE المغلقة | تصحيحات التقرير: مصفوفة الفرز، النظم البيئية وتعزيز التمويل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246888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289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200" b="1">
                <a:solidFill>
                  <a:srgbClr val="F0C860"/>
                </a:solidFill>
              </a:defRPr>
            </a:pPr>
            <a:r>
              <a:t>⚡ 1. التدخلات الأربعة المغلقة لمحور WEFE (المشروع التجريبي 100,000 فدان)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62895" cy="1874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950">
                <a:solidFill>
                  <a:srgbClr val="F8FAFC"/>
                </a:solidFill>
              </a:defRPr>
            </a:pPr>
            <a:r>
              <a:t>💧 المياه (Water): إحلال 100 ألف فدان بمواسير HDPE وفلاتر جيوتكستيل (40+ سنة عمر). صمامات كهربائية تتحكم بالصعود الشعري (h=2γcosθ/ρgr) لتوفير 150M م³/سنة مياه ري (25-30%).</a:t>
            </a:r>
          </a:p>
          <a:p>
            <a:pPr algn="r">
              <a:defRPr sz="950">
                <a:solidFill>
                  <a:srgbClr val="F8FAFC"/>
                </a:solidFill>
              </a:defRPr>
            </a:pPr>
            <a:r>
              <a:t>☀️ الطاقة (Energy): محطات شمسية 50 MW موزعة على 25 محطة رفع تولد 90 GWh/سنة وتخفض فاتورة الكهرباء 40% مع تصدير الفائض للشبكة القومية بنظام صافي القياس.</a:t>
            </a:r>
          </a:p>
          <a:p>
            <a:pPr algn="r">
              <a:defRPr sz="950">
                <a:solidFill>
                  <a:srgbClr val="F8FAFC"/>
                </a:solidFill>
              </a:defRPr>
            </a:pPr>
            <a:r>
              <a:t>🌾 الغذاء (Food): زيادة إنتاجية القمح والأرز والذرة 15-25%، مع غسيل أملاح ذكي تلقائي يفتح الصمام عند EC &gt; 4 dS/m ويغلقه عند EC &lt; 2 dS/m.</a:t>
            </a:r>
          </a:p>
          <a:p>
            <a:pPr algn="r">
              <a:defRPr sz="950">
                <a:solidFill>
                  <a:srgbClr val="F8FAFC"/>
                </a:solidFill>
              </a:defRPr>
            </a:pPr>
            <a:r>
              <a:t>🌿 النظم البيئية (Ecosystems): 20 محطة أراضٍ رطبة اصطناعية (4,760 فدان) تعالج 200M م³/سنة حيوياً وتحمي بحيرات الدلتا الشمالية، وتحتجز 100k طن CO₂ (شهادات Verra VM0033).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69080"/>
            <a:ext cx="5242255" cy="233172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206240"/>
            <a:ext cx="487649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200" b="1">
                <a:solidFill>
                  <a:srgbClr val="15B5A4"/>
                </a:solidFill>
              </a:defRPr>
            </a:pPr>
            <a:r>
              <a:t>📊 2. مصفوفة فرز WEFE الرسمية وبطاقة قياس المرونة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572000"/>
            <a:ext cx="4876495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850">
                <a:solidFill>
                  <a:srgbClr val="F8FAFC"/>
                </a:solidFill>
              </a:defRPr>
            </a:pPr>
            <a:r>
              <a:t>• بعد المياه (الدرجة: 10/10): وفر 150M م³/سنة؛ تثبيت منسوب الماء الأرضي عند 0.8-1.2م.</a:t>
            </a:r>
          </a:p>
          <a:p>
            <a:pPr algn="r">
              <a:defRPr sz="850">
                <a:solidFill>
                  <a:srgbClr val="F8FAFC"/>
                </a:solidFill>
              </a:defRPr>
            </a:pPr>
            <a:r>
              <a:t>• بعد الطاقة (الدرجة: 8/10): 50 MW شمسية؛ 90 GWh/سنة؛ خفض تكاليف الضخ 40%.</a:t>
            </a:r>
          </a:p>
          <a:p>
            <a:pPr algn="r">
              <a:defRPr sz="850">
                <a:solidFill>
                  <a:srgbClr val="F8FAFC"/>
                </a:solidFill>
              </a:defRPr>
            </a:pPr>
            <a:r>
              <a:t>• بعد الغذاء (الدرجة: 10/10): زيادة المحاصيل 15-25%؛ دعم أمن الغذاء لـ 200,000 مزارع.</a:t>
            </a:r>
          </a:p>
          <a:p>
            <a:pPr algn="r">
              <a:defRPr sz="850">
                <a:solidFill>
                  <a:srgbClr val="F8FAFC"/>
                </a:solidFill>
              </a:defRPr>
            </a:pPr>
            <a:r>
              <a:t>• بعد النظم البيئية (الدرجة: 8/10): 4,760 فدان رطبة؛ كربون أزرق؛ حماية الثروة السمكية.</a:t>
            </a:r>
          </a:p>
          <a:p>
            <a:pPr algn="r">
              <a:defRPr sz="850">
                <a:solidFill>
                  <a:srgbClr val="F8FAFC"/>
                </a:solidFill>
              </a:defRPr>
            </a:pPr>
            <a:r>
              <a:t>• الممكنات الرقمية (الدرجة: 9/10): 5,000 عقدة IoT؛ توأم رقمي؛ رصد تلاعب لحظي مشفر.</a:t>
            </a:r>
          </a:p>
          <a:p>
            <a:pPr algn="r">
              <a:defRPr sz="850">
                <a:solidFill>
                  <a:srgbClr val="F0C860"/>
                </a:solidFill>
              </a:defRPr>
            </a:pPr>
            <a:r>
              <a:t>• التقييم المركب لمشروع WEFE: 92 / 100 | بطاقة قياس المرونة: HIGH عبر الأبعاد الـ 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12080" cy="233172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8463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</a:defRPr>
            </a:pPr>
            <a:r>
              <a:t>💎 3. كيف يعزز تكامل WEFE الجدوى البنكية للمشروع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84632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850">
                <a:solidFill>
                  <a:srgbClr val="F8FAFC"/>
                </a:solidFill>
              </a:defRPr>
            </a:pPr>
            <a:r>
              <a:t>• الاكتفاء الذاتي من تكاليف التشغيل: الطاقة الشمسية المصدرة تسدد فواتير كهرباء الطلمبات، مما يحمي نسبة خدمة الدين (DSCR = 1.35x).</a:t>
            </a:r>
          </a:p>
          <a:p>
            <a:pPr algn="r">
              <a:defRPr sz="850">
                <a:solidFill>
                  <a:srgbClr val="F8FAFC"/>
                </a:solidFill>
              </a:defRPr>
            </a:pPr>
            <a:r>
              <a:t>• قيمة التكلفة المتجنبة (Avoided Costs): توفير 150M م³ مياه يعادل 52.5M دولار/سنة بتكلفة البديل (0.35$/م³)، محققاً فترة استرداد 0.48 سنة للري الذكي.</a:t>
            </a:r>
          </a:p>
          <a:p>
            <a:pPr algn="r">
              <a:defRPr sz="850">
                <a:solidFill>
                  <a:srgbClr val="F8FAFC"/>
                </a:solidFill>
              </a:defRPr>
            </a:pPr>
            <a:r>
              <a:t>• تنوع التدفقات النقدية الإيرادية: وفر طاقة ($8M) + تصدير شبكة ($3M) + مياه متجنبة ($5M) + أرصدة كربون ($0.5M) ورسوم صيانة.</a:t>
            </a:r>
          </a:p>
          <a:p>
            <a:pPr algn="r">
              <a:defRPr sz="850">
                <a:solidFill>
                  <a:srgbClr val="F8FAFC"/>
                </a:solidFill>
              </a:defRPr>
            </a:pPr>
            <a:r>
              <a:t>• انعدام النزاعات الاجتماعية: تطوير موضعي (In-situ) في أراضي الدلتا القديمة دون تحويل المياه بعيداً عن صغار المزارعين (بخلاف مشاريع بحر البقر والمحسمة).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950" b="1">
                <a:solidFill>
                  <a:srgbClr val="15B5A4"/>
                </a:solidFill>
              </a:defRPr>
            </a:pPr>
            <a:r>
              <a:t>الشريحة 3 من 3 | عرض تنفيذي في 5 دقائق | برنامج تمويل المرونة ومحور WEFE</a:t>
            </a:r>
          </a:p>
          <a:p>
            <a:pPr algn="r">
              <a:defRPr sz="1900" b="1">
                <a:solidFill>
                  <a:srgbClr val="F8FAFC"/>
                </a:solidFill>
              </a:defRPr>
            </a:pPr>
            <a:r>
              <a:t>هيكل رأس المال المختلط، الجاهزية، ومسار التوسع الإقليمي</a:t>
            </a:r>
          </a:p>
          <a:p>
            <a:pPr algn="r">
              <a:defRPr sz="1100">
                <a:solidFill>
                  <a:srgbClr val="F0C860"/>
                </a:solidFill>
              </a:defRPr>
            </a:pPr>
            <a:r>
              <a:t>4. الميزانية والجهات الممولة | 5. الجاهزية والحقل التجريبي | 6. مؤشرات الأداء والتوسع الإقليمي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42255" cy="256032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1600200"/>
            <a:ext cx="487649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200" b="1">
                <a:solidFill>
                  <a:srgbClr val="F0C860"/>
                </a:solidFill>
              </a:defRPr>
            </a:pPr>
            <a:r>
              <a:t>💰 1. إجمالي التكلفة (420M$) وهيكل رأس المال المختلط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65960"/>
            <a:ext cx="4876495" cy="1965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880">
                <a:solidFill>
                  <a:srgbClr val="F8FAFC"/>
                </a:solidFill>
              </a:defRPr>
            </a:pPr>
            <a:r>
              <a:t>• إجمالي الاستثمار: 420 مليون دولار (4,200 دولار/فدان لكافة العناصر الهندسية والتقنية والبيئية).</a:t>
            </a:r>
          </a:p>
          <a:p>
            <a:pPr algn="r">
              <a:defRPr sz="880">
                <a:solidFill>
                  <a:srgbClr val="F8FAFC"/>
                </a:solidFill>
              </a:defRPr>
            </a:pPr>
            <a:r>
              <a:t>• 15% منح ومساعدات فنية (63M$): من GCF و AfDB و EU للحقل التجريبي والمنصة ودراسات الجدوى.</a:t>
            </a:r>
          </a:p>
          <a:p>
            <a:pPr algn="r">
              <a:defRPr sz="880">
                <a:solidFill>
                  <a:srgbClr val="F8FAFC"/>
                </a:solidFill>
              </a:defRPr>
            </a:pPr>
            <a:r>
              <a:t>• 20% مساهمة حكومية عينية (84M$): أراضٍ ومحطات طلمبات قائمة وكوادر هيئة الصرف.</a:t>
            </a:r>
          </a:p>
          <a:p>
            <a:pPr algn="r">
              <a:defRPr sz="880">
                <a:solidFill>
                  <a:srgbClr val="F8FAFC"/>
                </a:solidFill>
              </a:defRPr>
            </a:pPr>
            <a:r>
              <a:t>• 40% قروض ميسرة (168M$): البنك الدولي (NDP V)، وبنك التنمية الأفريقي (سداد 20-25 سنة).</a:t>
            </a:r>
          </a:p>
          <a:p>
            <a:pPr algn="r">
              <a:defRPr sz="880">
                <a:solidFill>
                  <a:srgbClr val="F8FAFC"/>
                </a:solidFill>
              </a:defRPr>
            </a:pPr>
            <a:r>
              <a:t>• 25% قروض تجارية وشراكة PPP (105M$): لمكون الطاقة الشمسية 50 MW مدعوماً باتفاقيات PPA.</a:t>
            </a:r>
          </a:p>
          <a:p>
            <a:pPr algn="r">
              <a:defRPr sz="880">
                <a:solidFill>
                  <a:srgbClr val="F8FAFC"/>
                </a:solidFill>
              </a:defRPr>
            </a:pPr>
            <a:r>
              <a:t>• مؤشرات الربحية الاقتصادية: EIRR = 21.4% | DSCR = 1.35x (تحت الضغط) | استرداد 8 سنوات.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60520"/>
            <a:ext cx="5242255" cy="224028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297680"/>
            <a:ext cx="4876495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200" b="1">
                <a:solidFill>
                  <a:srgbClr val="15B5A4"/>
                </a:solidFill>
              </a:defRPr>
            </a:pPr>
            <a:r>
              <a:t>🎯 2. تحليل ملاءمة جهات التمويل (Funding Call Fit)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663440"/>
            <a:ext cx="4876495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880">
                <a:solidFill>
                  <a:srgbClr val="F8FAFC"/>
                </a:solidFill>
              </a:defRPr>
            </a:pPr>
            <a:r>
              <a:t>• صندوق المناخ الأخضر (GCF Adaptation): درجة 14/14 (قرار: GO) - تطابق كامل مع نافذة التكيف والتخفيف والتحول الرقمي.</a:t>
            </a:r>
          </a:p>
          <a:p>
            <a:pPr algn="r">
              <a:defRPr sz="880">
                <a:solidFill>
                  <a:srgbClr val="F8FAFC"/>
                </a:solidFill>
              </a:defRPr>
            </a:pPr>
            <a:r>
              <a:t>• صندوق التكيف (Adaptation Fund): درجة 13/14 (قرار: GO لمقترح مجزأ أو الحقل التجريبي 10 أفدنة).</a:t>
            </a:r>
          </a:p>
          <a:p>
            <a:pPr algn="r">
              <a:defRPr sz="880">
                <a:solidFill>
                  <a:srgbClr val="F8FAFC"/>
                </a:solidFill>
              </a:defRPr>
            </a:pPr>
            <a:r>
              <a:t>• برنامج PRIMA وبوابة الاتحاد الأوروبي: ملاءمة مرتفعة جداً للتحول الرقمي الزراعي والتعاون الأورومتوسطي.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200" b="1">
                <a:solidFill>
                  <a:srgbClr val="10B981"/>
                </a:solidFill>
              </a:defRPr>
            </a:pPr>
            <a:r>
              <a:t>🚀 3. حالة الجاهزية ووحدة الاختبار (10 أفدنة)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484632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880">
                <a:solidFill>
                  <a:srgbClr val="F8FAFC"/>
                </a:solidFill>
              </a:defRPr>
            </a:pPr>
            <a:r>
              <a:t>• النضج المؤسسي والتنفيذي: خبرة 50 عاماً لهيئة الصرف (EPADP) في شبكات 6 ملايين فدان تقضي على المخاطر التنفيذية.</a:t>
            </a:r>
          </a:p>
          <a:p>
            <a:pPr algn="r">
              <a:defRPr sz="880">
                <a:solidFill>
                  <a:srgbClr val="F8FAFC"/>
                </a:solidFill>
              </a:defRPr>
            </a:pPr>
            <a:r>
              <a:t>• وحدة الاختبار الحقلية (10 أفدنة): تصميم جاهز للتنفيذ الفوري على مجمع صرف مستقل لاختبار الصعود الشعري قبل التعميم.</a:t>
            </a:r>
          </a:p>
          <a:p>
            <a:pPr algn="r">
              <a:defRPr sz="880">
                <a:solidFill>
                  <a:srgbClr val="F8FAFC"/>
                </a:solidFill>
              </a:defRPr>
            </a:pPr>
            <a:r>
              <a:t>• نضج التقنيات (TRL): مستوى TRL 8-9 لكافة مكونات HDPE والطاقة الشمسية وحساسات ESP32 و NB-IoT.</a:t>
            </a:r>
          </a:p>
          <a:p>
            <a:pPr algn="r">
              <a:defRPr sz="880">
                <a:solidFill>
                  <a:srgbClr val="F8FAFC"/>
                </a:solidFill>
              </a:defRPr>
            </a:pPr>
            <a:r>
              <a:t>• الخطوة التنفيذية الفورية: طلب منحة تحضيرية (PPF Grant بقيمة 1.5 مليون دولار) من GCF/AfDB لدراسات كفر الشيخ.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12080" cy="2560320"/>
          </a:xfrm>
          <a:prstGeom prst="roundRect">
            <a:avLst/>
          </a:prstGeom>
          <a:solidFill>
            <a:srgbClr val="0F2240"/>
          </a:solidFill>
          <a:ln w="12700">
            <a:solidFill>
              <a:srgbClr val="15B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48463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1200" b="1">
                <a:solidFill>
                  <a:srgbClr val="F8FAFC"/>
                </a:solidFill>
              </a:defRPr>
            </a:pPr>
            <a:r>
              <a:t>📈 4. مؤشرات الأداء الرئيسية ومسار التوسع الإقليمي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4846320" cy="1965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defRPr sz="850">
                <a:solidFill>
                  <a:srgbClr val="F0C860"/>
                </a:solidFill>
              </a:defRPr>
            </a:pPr>
            <a:r>
              <a:t>مؤشرات الأداء الكمية المستهدفة (100,000 فدان): </a:t>
            </a:r>
          </a:p>
          <a:p>
            <a:pPr algn="r">
              <a:defRPr sz="850">
                <a:solidFill>
                  <a:srgbClr val="F8FAFC"/>
                </a:solidFill>
              </a:defRPr>
            </a:pPr>
            <a:r>
              <a:t>• 150 مليون م³/سنة وفر مائي عبر الصرف المحكوم والصعود الشعري.</a:t>
            </a:r>
          </a:p>
          <a:p>
            <a:pPr algn="r">
              <a:defRPr sz="850">
                <a:solidFill>
                  <a:srgbClr val="F8FAFC"/>
                </a:solidFill>
              </a:defRPr>
            </a:pPr>
            <a:r>
              <a:t>• 15-25% زيادة إنتاجية المحاصيل لأكثر من 200,000 مزارع مستفيد.</a:t>
            </a:r>
          </a:p>
          <a:p>
            <a:pPr algn="r">
              <a:defRPr sz="850">
                <a:solidFill>
                  <a:srgbClr val="F8FAFC"/>
                </a:solidFill>
              </a:defRPr>
            </a:pPr>
            <a:r>
              <a:t>• 50 MW طاقة شمسية و 90 GWh/سنة كهرباء نظيفة + خفض 40% من تكلفة الضخ.</a:t>
            </a:r>
          </a:p>
          <a:p>
            <a:pPr algn="r">
              <a:defRPr sz="850">
                <a:solidFill>
                  <a:srgbClr val="F8FAFC"/>
                </a:solidFill>
              </a:defRPr>
            </a:pPr>
            <a:r>
              <a:t>• خفض التعديات 80% وكشف الأعطال في ساعة واحدة بدلاً من أسابيع.</a:t>
            </a:r>
          </a:p>
          <a:p>
            <a:pPr algn="r">
              <a:defRPr sz="850">
                <a:solidFill>
                  <a:srgbClr val="F8FAFC"/>
                </a:solidFill>
              </a:defRPr>
            </a:pPr>
            <a:r>
              <a:t>• خفض 100,000 طن CO₂/سنة وتوفير 5,000 فرصة عمل مباشرة.</a:t>
            </a:r>
          </a:p>
          <a:p>
            <a:pPr algn="r">
              <a:defRPr sz="850">
                <a:solidFill>
                  <a:srgbClr val="F0C860"/>
                </a:solidFill>
              </a:defRPr>
            </a:pPr>
            <a:r>
              <a:t>مسار التوسع (3 مراحل): حقل تجريبي 10 أفدنة (سنة 1) -&gt; تجربة ريادية 100 ألف فدان (سنوات 2-5) -&gt; تعميم عبر 4.3M فدان بالدلتا ونقل التجربة إقليمياً للعراق والأردن وباكستان.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