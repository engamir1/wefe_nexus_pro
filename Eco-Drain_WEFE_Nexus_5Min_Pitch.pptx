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00:00-01:40  المشكلة: نصيب الفرد 560 م³، و2.3 مليون فدان تجاوزت عمرها التصميمي، و25-40% من الأعطال بسبب التلاعب. الحل: غرف مدفونة بـ RFID وGPS وإنذار اهتزاز. القيادة: وزارة الري وهيئة الصرف مع الشركاء.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01:40-03:30  أربعة تدخلات WEFE: توفير 150 مليون م³، 50 MW شمسية، زيادة الإنتاجية 15-25%، و20 أرضاً رطبة. التقييم المركب 92/100. الجدوى البنكية: تشغيل ذاتي التمويل وتكلفة متجنبة وتنوع الإيرادات وعدم التهجير.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03:30-05:00  تمويل مختلط 420 مليون دولار (15/20/40/25). ملاءمة GCF 14/14 وصندوق التكيف 13/14. الجاهزية: حقل 10 أفدنة وTRL 8-9 وطلب PPF. التوسع: 10 أفدنة ثم 100 ألف فدان ثم 4.3 مليون فدان بالدلتا ثم العراق والأردن وباكستان.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D1D36"/>
            </a:gs>
            <a:gs pos="100000">
              <a:srgbClr val="060E1C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67104" y="-1554480"/>
            <a:ext cx="3840480" cy="3840480"/>
          </a:xfrm>
          <a:prstGeom prst="ellipse">
            <a:avLst/>
          </a:prstGeom>
          <a:solidFill>
            <a:srgbClr val="15B5A4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88575" y="5212080"/>
            <a:ext cx="3291840" cy="3291840"/>
          </a:xfrm>
          <a:prstGeom prst="ellipse">
            <a:avLst/>
          </a:prstGeom>
          <a:solidFill>
            <a:srgbClr val="D4A843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19" y="1463040"/>
            <a:ext cx="10728655" cy="27432"/>
          </a:xfrm>
          <a:prstGeom prst="roundRect">
            <a:avLst>
              <a:gd name="adj" fmla="val 50000"/>
            </a:avLst>
          </a:prstGeom>
          <a:solidFill>
            <a:srgbClr val="15B5A4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5" name="Group 4"/>
          <p:cNvGrpSpPr/>
          <p:nvPr/>
        </p:nvGrpSpPr>
        <p:grpSpPr>
          <a:xfrm>
            <a:off x="731519" y="274320"/>
            <a:ext cx="10728656" cy="1133856"/>
            <a:chOff x="731519" y="274320"/>
            <a:chExt cx="10728656" cy="1133856"/>
          </a:xfrm>
        </p:grpSpPr>
        <p:sp>
          <p:nvSpPr>
            <p:cNvPr id="6" name="Rounded Rectangle 5"/>
            <p:cNvSpPr/>
            <p:nvPr/>
          </p:nvSpPr>
          <p:spPr>
            <a:xfrm>
              <a:off x="7253935" y="274320"/>
              <a:ext cx="4206240" cy="310896"/>
            </a:xfrm>
            <a:prstGeom prst="roundRect">
              <a:avLst>
                <a:gd name="adj" fmla="val 50000"/>
              </a:avLst>
            </a:prstGeom>
            <a:solidFill>
              <a:srgbClr val="183158"/>
            </a:solidFill>
            <a:ln w="12700">
              <a:solidFill>
                <a:srgbClr val="15B5A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tIns="0" bIns="0" lIns="54864" rIns="54864"/>
            <a:lstStyle/>
            <a:p>
              <a:pPr algn="ctr" rtl="1">
                <a:lnSpc>
                  <a:spcPct val="112000"/>
                </a:lnSpc>
                <a:spcAft>
                  <a:spcPts val="0"/>
                </a:spcAft>
              </a:pPr>
              <a:r>
                <a:rPr sz="1100" b="1" lang="ar-SA">
                  <a:solidFill>
                    <a:srgbClr val="15B5A4"/>
                  </a:solidFill>
                  <a:latin typeface="Segoe UI"/>
                  <a:ea typeface="Segoe UI"/>
                  <a:cs typeface="Segoe UI"/>
                </a:rPr>
                <a:t>الشريحة 1 من 3  |  عرض تنفيذي لمدة 5 دقائق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31519" y="658368"/>
              <a:ext cx="10728655" cy="457200"/>
            </a:xfrm>
            <a:prstGeom prst="rect">
              <a:avLst/>
            </a:prstGeom>
            <a:noFill/>
          </p:spPr>
          <p:txBody>
            <a:bodyPr wrap="square" tIns="0" bIns="0" lIns="0" rIns="0" anchor="ctr">
              <a:spAutoFit/>
            </a:bodyPr>
            <a:lstStyle/>
            <a:p>
              <a:pPr rtl="1" algn="r">
                <a:lnSpc>
                  <a:spcPct val="112000"/>
                </a:lnSpc>
                <a:spcAft>
                  <a:spcPts val="0"/>
                </a:spcAft>
              </a:pPr>
              <a:r>
                <a:rPr sz="2600" b="1" lang="ar-SA">
                  <a:solidFill>
                    <a:srgbClr val="F8FAFC"/>
                  </a:solidFill>
                  <a:latin typeface="Segoe UI"/>
                  <a:ea typeface="Segoe UI"/>
                  <a:cs typeface="Segoe UI"/>
                </a:rPr>
                <a:t>إيكو-درين: صرف مغطى ذكي غير مرئي ومقاوم للتلاعب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31519" y="1097280"/>
              <a:ext cx="10728655" cy="310896"/>
            </a:xfrm>
            <a:prstGeom prst="rect">
              <a:avLst/>
            </a:prstGeom>
            <a:noFill/>
          </p:spPr>
          <p:txBody>
            <a:bodyPr wrap="square" tIns="0" bIns="0" lIns="0" rIns="0" anchor="ctr">
              <a:spAutoFit/>
            </a:bodyPr>
            <a:lstStyle/>
            <a:p>
              <a:pPr rtl="1" algn="r">
                <a:lnSpc>
                  <a:spcPct val="112000"/>
                </a:lnSpc>
                <a:spcAft>
                  <a:spcPts val="0"/>
                </a:spcAft>
              </a:pPr>
              <a:r>
                <a:rPr sz="1400" b="0" lang="ar-SA">
                  <a:solidFill>
                    <a:srgbClr val="F0C860"/>
                  </a:solidFill>
                  <a:latin typeface="Segoe UI"/>
                  <a:ea typeface="Segoe UI"/>
                  <a:cs typeface="Segoe UI"/>
                </a:rPr>
                <a:t>تجديد مرن مناخياً لـ 100,000 فدان في دلتا النيل بمصر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731520" y="6528816"/>
            <a:ext cx="10728655" cy="219456"/>
            <a:chOff x="731520" y="6528816"/>
            <a:chExt cx="10728655" cy="219456"/>
          </a:xfrm>
        </p:grpSpPr>
        <p:sp>
          <p:nvSpPr>
            <p:cNvPr id="10" name="TextBox 9"/>
            <p:cNvSpPr txBox="1"/>
            <p:nvPr/>
          </p:nvSpPr>
          <p:spPr>
            <a:xfrm>
              <a:off x="2773375" y="6528816"/>
              <a:ext cx="8686800" cy="219456"/>
            </a:xfrm>
            <a:prstGeom prst="rect">
              <a:avLst/>
            </a:prstGeom>
            <a:noFill/>
          </p:spPr>
          <p:txBody>
            <a:bodyPr wrap="square" tIns="0" bIns="0" lIns="0" rIns="0" anchor="ctr">
              <a:spAutoFit/>
            </a:bodyPr>
            <a:lstStyle/>
            <a:p>
              <a:pPr rtl="1" algn="r">
                <a:lnSpc>
                  <a:spcPct val="112000"/>
                </a:lnSpc>
                <a:spcAft>
                  <a:spcPts val="0"/>
                </a:spcAft>
              </a:pPr>
              <a:r>
                <a:rPr sz="1000" b="0" lang="ar-SA">
                  <a:solidFill>
                    <a:srgbClr val="94A3B8"/>
                  </a:solidFill>
                  <a:latin typeface="Segoe UI"/>
                  <a:ea typeface="Segoe UI"/>
                  <a:cs typeface="Segoe UI"/>
                </a:rPr>
                <a:t>إيكو-درين  |  المجموعة العاشرة  |  المكتب الفني لهيئة الصرف بالوجه البحري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31520" y="6528816"/>
              <a:ext cx="914400" cy="219456"/>
            </a:xfrm>
            <a:prstGeom prst="rect">
              <a:avLst/>
            </a:prstGeom>
            <a:noFill/>
          </p:spPr>
          <p:txBody>
            <a:bodyPr wrap="square" tIns="0" bIns="0" lIns="0" rIns="0" anchor="ctr">
              <a:spAutoFit/>
            </a:bodyPr>
            <a:lstStyle/>
            <a:p>
              <a:pPr rtl="1" algn="l">
                <a:lnSpc>
                  <a:spcPct val="112000"/>
                </a:lnSpc>
                <a:spcAft>
                  <a:spcPts val="0"/>
                </a:spcAft>
              </a:pPr>
              <a:r>
                <a:rPr sz="1000" b="1" lang="ar-SA">
                  <a:solidFill>
                    <a:srgbClr val="15B5A4"/>
                  </a:solidFill>
                  <a:latin typeface="Segoe UI"/>
                  <a:ea typeface="Segoe UI"/>
                  <a:cs typeface="Segoe UI"/>
                </a:rPr>
                <a:t>1 / 3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7894015" y="1554480"/>
            <a:ext cx="3566160" cy="2103120"/>
            <a:chOff x="7894015" y="1554480"/>
            <a:chExt cx="3566160" cy="2103120"/>
          </a:xfrm>
        </p:grpSpPr>
        <p:sp>
          <p:nvSpPr>
            <p:cNvPr id="13" name="Rounded Rectangle 12"/>
            <p:cNvSpPr/>
            <p:nvPr/>
          </p:nvSpPr>
          <p:spPr>
            <a:xfrm>
              <a:off x="7894015" y="1554480"/>
              <a:ext cx="3566160" cy="2103120"/>
            </a:xfrm>
            <a:prstGeom prst="roundRect">
              <a:avLst>
                <a:gd name="adj" fmla="val 8695"/>
              </a:avLst>
            </a:prstGeom>
            <a:solidFill>
              <a:srgbClr val="0F2240"/>
            </a:solidFill>
            <a:ln w="15875">
              <a:solidFill>
                <a:srgbClr val="15B5A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14" name="Picture 13" descr="fig1_subsurface_drainage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99855" y="1691639"/>
              <a:ext cx="1554479" cy="1554479"/>
            </a:xfrm>
            <a:prstGeom prst="roundRect">
              <a:avLst>
                <a:gd name="adj" fmla="val 8235"/>
              </a:avLst>
            </a:prstGeom>
          </p:spPr>
        </p:pic>
        <p:sp>
          <p:nvSpPr>
            <p:cNvPr id="15" name="TextBox 14"/>
            <p:cNvSpPr txBox="1"/>
            <p:nvPr/>
          </p:nvSpPr>
          <p:spPr>
            <a:xfrm>
              <a:off x="8031175" y="3328416"/>
              <a:ext cx="3291840" cy="237744"/>
            </a:xfrm>
            <a:prstGeom prst="rect">
              <a:avLst/>
            </a:prstGeom>
            <a:noFill/>
          </p:spPr>
          <p:txBody>
            <a:bodyPr wrap="square" tIns="0" bIns="0" lIns="0" rIns="0" anchor="ctr">
              <a:spAutoFit/>
            </a:bodyPr>
            <a:lstStyle/>
            <a:p>
              <a:pPr rtl="1" algn="ctr">
                <a:lnSpc>
                  <a:spcPct val="112000"/>
                </a:lnSpc>
                <a:spcAft>
                  <a:spcPts val="0"/>
                </a:spcAft>
              </a:pPr>
              <a:r>
                <a:rPr sz="1100" b="0" lang="ar-SA">
                  <a:solidFill>
                    <a:srgbClr val="94A3B8"/>
                  </a:solidFill>
                  <a:latin typeface="Segoe UI"/>
                  <a:ea typeface="Segoe UI"/>
                  <a:cs typeface="Segoe UI"/>
                </a:rPr>
                <a:t>تصور تجديد شبكات الصرف المغطى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7894015" y="3749039"/>
            <a:ext cx="3566160" cy="822960"/>
            <a:chOff x="7894015" y="3749039"/>
            <a:chExt cx="3566160" cy="822960"/>
          </a:xfrm>
        </p:grpSpPr>
        <p:sp>
          <p:nvSpPr>
            <p:cNvPr id="17" name="Rounded Rectangle 16"/>
            <p:cNvSpPr/>
            <p:nvPr/>
          </p:nvSpPr>
          <p:spPr>
            <a:xfrm>
              <a:off x="7894015" y="3749039"/>
              <a:ext cx="3566160" cy="822960"/>
            </a:xfrm>
            <a:prstGeom prst="roundRect">
              <a:avLst>
                <a:gd name="adj" fmla="val 17777"/>
              </a:avLst>
            </a:prstGeom>
            <a:solidFill>
              <a:srgbClr val="0F2240"/>
            </a:solidFill>
            <a:ln w="13970">
              <a:solidFill>
                <a:srgbClr val="F8717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9997135" y="3749039"/>
              <a:ext cx="1371600" cy="822960"/>
            </a:xfrm>
            <a:prstGeom prst="rect">
              <a:avLst/>
            </a:prstGeom>
            <a:noFill/>
          </p:spPr>
          <p:txBody>
            <a:bodyPr wrap="square" tIns="0" bIns="0" lIns="0" rIns="0" anchor="ctr">
              <a:spAutoFit/>
            </a:bodyPr>
            <a:lstStyle/>
            <a:p>
              <a:pPr rtl="1" algn="ctr">
                <a:lnSpc>
                  <a:spcPct val="112000"/>
                </a:lnSpc>
                <a:spcAft>
                  <a:spcPts val="0"/>
                </a:spcAft>
              </a:pPr>
              <a:r>
                <a:rPr sz="2200" b="1" lang="ar-SA">
                  <a:solidFill>
                    <a:srgbClr val="F87171"/>
                  </a:solidFill>
                  <a:latin typeface="Segoe UI"/>
                  <a:ea typeface="Segoe UI"/>
                  <a:cs typeface="Segoe UI"/>
                </a:rPr>
                <a:t>560 م³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8031175" y="3794759"/>
              <a:ext cx="1920239" cy="731520"/>
            </a:xfrm>
            <a:prstGeom prst="rect">
              <a:avLst/>
            </a:prstGeom>
            <a:noFill/>
          </p:spPr>
          <p:txBody>
            <a:bodyPr wrap="square" tIns="0" bIns="0" lIns="0" rIns="0" anchor="ctr">
              <a:spAutoFit/>
            </a:bodyPr>
            <a:lstStyle/>
            <a:p>
              <a:pPr rtl="1" algn="r">
                <a:lnSpc>
                  <a:spcPct val="112000"/>
                </a:lnSpc>
                <a:spcAft>
                  <a:spcPts val="0"/>
                </a:spcAft>
              </a:pPr>
              <a:r>
                <a:rPr sz="1150" b="0" lang="ar-SA">
                  <a:solidFill>
                    <a:srgbClr val="E2E8F0"/>
                  </a:solidFill>
                  <a:latin typeface="Segoe UI"/>
                  <a:ea typeface="Segoe UI"/>
                  <a:cs typeface="Segoe UI"/>
                </a:rPr>
                <a:t>نصيب الفرد من المياه سنوياً، أقل من خط الفقر المائي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7894015" y="4636007"/>
            <a:ext cx="3566160" cy="822960"/>
            <a:chOff x="7894015" y="4636007"/>
            <a:chExt cx="3566160" cy="822960"/>
          </a:xfrm>
        </p:grpSpPr>
        <p:sp>
          <p:nvSpPr>
            <p:cNvPr id="21" name="Rounded Rectangle 20"/>
            <p:cNvSpPr/>
            <p:nvPr/>
          </p:nvSpPr>
          <p:spPr>
            <a:xfrm>
              <a:off x="7894015" y="4636007"/>
              <a:ext cx="3566160" cy="822960"/>
            </a:xfrm>
            <a:prstGeom prst="roundRect">
              <a:avLst>
                <a:gd name="adj" fmla="val 17777"/>
              </a:avLst>
            </a:prstGeom>
            <a:solidFill>
              <a:srgbClr val="0F2240"/>
            </a:solidFill>
            <a:ln w="13970">
              <a:solidFill>
                <a:srgbClr val="F0C8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9997135" y="4636007"/>
              <a:ext cx="1371600" cy="822960"/>
            </a:xfrm>
            <a:prstGeom prst="rect">
              <a:avLst/>
            </a:prstGeom>
            <a:noFill/>
          </p:spPr>
          <p:txBody>
            <a:bodyPr wrap="square" tIns="0" bIns="0" lIns="0" rIns="0" anchor="ctr">
              <a:spAutoFit/>
            </a:bodyPr>
            <a:lstStyle/>
            <a:p>
              <a:pPr rtl="1" algn="ctr">
                <a:lnSpc>
                  <a:spcPct val="112000"/>
                </a:lnSpc>
                <a:spcAft>
                  <a:spcPts val="0"/>
                </a:spcAft>
              </a:pPr>
              <a:r>
                <a:rPr sz="2200" b="1" lang="ar-SA">
                  <a:solidFill>
                    <a:srgbClr val="F0C860"/>
                  </a:solidFill>
                  <a:latin typeface="Segoe UI"/>
                  <a:ea typeface="Segoe UI"/>
                  <a:cs typeface="Segoe UI"/>
                </a:rPr>
                <a:t>2.3 مليون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8031175" y="4681727"/>
              <a:ext cx="1920239" cy="731520"/>
            </a:xfrm>
            <a:prstGeom prst="rect">
              <a:avLst/>
            </a:prstGeom>
            <a:noFill/>
          </p:spPr>
          <p:txBody>
            <a:bodyPr wrap="square" tIns="0" bIns="0" lIns="0" rIns="0" anchor="ctr">
              <a:spAutoFit/>
            </a:bodyPr>
            <a:lstStyle/>
            <a:p>
              <a:pPr rtl="1" algn="r">
                <a:lnSpc>
                  <a:spcPct val="112000"/>
                </a:lnSpc>
                <a:spcAft>
                  <a:spcPts val="0"/>
                </a:spcAft>
              </a:pPr>
              <a:r>
                <a:rPr sz="1150" b="0" lang="ar-SA">
                  <a:solidFill>
                    <a:srgbClr val="E2E8F0"/>
                  </a:solidFill>
                  <a:latin typeface="Segoe UI"/>
                  <a:ea typeface="Segoe UI"/>
                  <a:cs typeface="Segoe UI"/>
                </a:rPr>
                <a:t>فدان من شبكات الصرف تجاوزت عمرها التصميمي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7894015" y="5522975"/>
            <a:ext cx="3566160" cy="822960"/>
            <a:chOff x="7894015" y="5522975"/>
            <a:chExt cx="3566160" cy="822960"/>
          </a:xfrm>
        </p:grpSpPr>
        <p:sp>
          <p:nvSpPr>
            <p:cNvPr id="25" name="Rounded Rectangle 24"/>
            <p:cNvSpPr/>
            <p:nvPr/>
          </p:nvSpPr>
          <p:spPr>
            <a:xfrm>
              <a:off x="7894015" y="5522975"/>
              <a:ext cx="3566160" cy="822960"/>
            </a:xfrm>
            <a:prstGeom prst="roundRect">
              <a:avLst>
                <a:gd name="adj" fmla="val 17777"/>
              </a:avLst>
            </a:prstGeom>
            <a:solidFill>
              <a:srgbClr val="0F2240"/>
            </a:solidFill>
            <a:ln w="13970">
              <a:solidFill>
                <a:srgbClr val="15B5A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9997135" y="5522975"/>
              <a:ext cx="1371600" cy="822960"/>
            </a:xfrm>
            <a:prstGeom prst="rect">
              <a:avLst/>
            </a:prstGeom>
            <a:noFill/>
          </p:spPr>
          <p:txBody>
            <a:bodyPr wrap="square" tIns="0" bIns="0" lIns="0" rIns="0" anchor="ctr">
              <a:spAutoFit/>
            </a:bodyPr>
            <a:lstStyle/>
            <a:p>
              <a:pPr rtl="1" algn="ctr">
                <a:lnSpc>
                  <a:spcPct val="112000"/>
                </a:lnSpc>
                <a:spcAft>
                  <a:spcPts val="0"/>
                </a:spcAft>
              </a:pPr>
              <a:r>
                <a:rPr sz="2200" b="1" lang="ar-SA">
                  <a:solidFill>
                    <a:srgbClr val="15B5A4"/>
                  </a:solidFill>
                  <a:latin typeface="Segoe UI"/>
                  <a:ea typeface="Segoe UI"/>
                  <a:cs typeface="Segoe UI"/>
                </a:rPr>
                <a:t>25–40%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8031175" y="5568695"/>
              <a:ext cx="1920239" cy="731520"/>
            </a:xfrm>
            <a:prstGeom prst="rect">
              <a:avLst/>
            </a:prstGeom>
            <a:noFill/>
          </p:spPr>
          <p:txBody>
            <a:bodyPr wrap="square" tIns="0" bIns="0" lIns="0" rIns="0" anchor="ctr">
              <a:spAutoFit/>
            </a:bodyPr>
            <a:lstStyle/>
            <a:p>
              <a:pPr rtl="1" algn="r">
                <a:lnSpc>
                  <a:spcPct val="112000"/>
                </a:lnSpc>
                <a:spcAft>
                  <a:spcPts val="0"/>
                </a:spcAft>
              </a:pPr>
              <a:r>
                <a:rPr sz="1150" b="0" lang="ar-SA">
                  <a:solidFill>
                    <a:srgbClr val="E2E8F0"/>
                  </a:solidFill>
                  <a:latin typeface="Segoe UI"/>
                  <a:ea typeface="Segoe UI"/>
                  <a:cs typeface="Segoe UI"/>
                </a:rPr>
                <a:t>من أعطال الصرف سببها التلاعب</a:t>
              </a: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731520" y="1554480"/>
            <a:ext cx="7052767" cy="2514600"/>
            <a:chOff x="731520" y="1554480"/>
            <a:chExt cx="7052767" cy="2514600"/>
          </a:xfrm>
        </p:grpSpPr>
        <p:sp>
          <p:nvSpPr>
            <p:cNvPr id="29" name="Rounded Rectangle 28"/>
            <p:cNvSpPr/>
            <p:nvPr/>
          </p:nvSpPr>
          <p:spPr>
            <a:xfrm>
              <a:off x="731520" y="1554480"/>
              <a:ext cx="7052767" cy="2514600"/>
            </a:xfrm>
            <a:prstGeom prst="roundRect">
              <a:avLst>
                <a:gd name="adj" fmla="val 7272"/>
              </a:avLst>
            </a:prstGeom>
            <a:solidFill>
              <a:srgbClr val="0F2240"/>
            </a:solidFill>
            <a:ln w="15875">
              <a:solidFill>
                <a:srgbClr val="F8717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7519111" y="1709928"/>
              <a:ext cx="64008" cy="256032"/>
            </a:xfrm>
            <a:prstGeom prst="roundRect">
              <a:avLst>
                <a:gd name="adj" fmla="val 50000"/>
              </a:avLst>
            </a:prstGeom>
            <a:solidFill>
              <a:srgbClr val="F8717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932688" y="1664207"/>
              <a:ext cx="6467551" cy="329184"/>
            </a:xfrm>
            <a:prstGeom prst="rect">
              <a:avLst/>
            </a:prstGeom>
            <a:noFill/>
          </p:spPr>
          <p:txBody>
            <a:bodyPr wrap="square" tIns="0" bIns="0" lIns="0" rIns="0" anchor="ctr">
              <a:spAutoFit/>
            </a:bodyPr>
            <a:lstStyle/>
            <a:p>
              <a:pPr rtl="1" algn="r">
                <a:lnSpc>
                  <a:spcPct val="112000"/>
                </a:lnSpc>
                <a:spcAft>
                  <a:spcPts val="0"/>
                </a:spcAft>
              </a:pPr>
              <a:r>
                <a:rPr sz="1500" b="1" lang="ar-SA">
                  <a:solidFill>
                    <a:srgbClr val="F87171"/>
                  </a:solidFill>
                  <a:latin typeface="Segoe UI"/>
                  <a:ea typeface="Segoe UI"/>
                  <a:cs typeface="Segoe UI"/>
                </a:rPr>
                <a:t>المشكلة والحل غير المرئي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960120" y="2103120"/>
              <a:ext cx="6595567" cy="1892807"/>
            </a:xfrm>
            <a:prstGeom prst="rect">
              <a:avLst/>
            </a:prstGeom>
            <a:noFill/>
          </p:spPr>
          <p:txBody>
            <a:bodyPr wrap="square" tIns="0" bIns="0" lIns="0" rIns="0" anchor="t">
              <a:spAutoFit/>
            </a:bodyPr>
            <a:lstStyle/>
            <a:p>
              <a:pPr rtl="1" algn="r" marL="201168" indent="-201168">
                <a:lnSpc>
                  <a:spcPct val="112000"/>
                </a:lnSpc>
                <a:spcAft>
                  <a:spcPts val="455"/>
                </a:spcAft>
                <a:buClr>
                  <a:srgbClr val="F87171"/>
                </a:buClr>
                <a:buFont typeface="Arial"/>
                <a:buChar char="•"/>
              </a:pPr>
              <a:r>
                <a:rPr sz="1300" b="1" lang="ar-SA">
                  <a:solidFill>
                    <a:srgbClr val="F0C860"/>
                  </a:solidFill>
                  <a:latin typeface="Segoe UI"/>
                  <a:ea typeface="Segoe UI"/>
                  <a:cs typeface="Segoe UI"/>
                </a:rPr>
                <a:t>تقادم الشبكات: </a:t>
              </a:r>
              <a:r>
                <a:rPr sz="1300" b="0" lang="ar-SA">
                  <a:solidFill>
                    <a:srgbClr val="E2E8F0"/>
                  </a:solidFill>
                  <a:latin typeface="Segoe UI"/>
                  <a:ea typeface="Segoe UI"/>
                  <a:cs typeface="Segoe UI"/>
                </a:rPr>
                <a:t>الصرف بالدلتا تجاوز عمره التصميمي (20–25 سنة) مسبباً التغدق والتملح وفقد 10–30% من المحاصيل.</a:t>
              </a:r>
            </a:p>
            <a:p>
              <a:pPr rtl="1" algn="r" marL="201168" indent="-201168">
                <a:lnSpc>
                  <a:spcPct val="112000"/>
                </a:lnSpc>
                <a:spcAft>
                  <a:spcPts val="455"/>
                </a:spcAft>
                <a:buClr>
                  <a:srgbClr val="F87171"/>
                </a:buClr>
                <a:buFont typeface="Arial"/>
                <a:buChar char="•"/>
              </a:pPr>
              <a:r>
                <a:rPr sz="1300" b="1" lang="ar-SA">
                  <a:solidFill>
                    <a:srgbClr val="F0C860"/>
                  </a:solidFill>
                  <a:latin typeface="Segoe UI"/>
                  <a:ea typeface="Segoe UI"/>
                  <a:cs typeface="Segoe UI"/>
                </a:rPr>
                <a:t>أعطال خفية: </a:t>
              </a:r>
              <a:r>
                <a:rPr sz="1300" b="0" lang="ar-SA">
                  <a:solidFill>
                    <a:srgbClr val="E2E8F0"/>
                  </a:solidFill>
                  <a:latin typeface="Segoe UI"/>
                  <a:ea typeface="Segoe UI"/>
                  <a:cs typeface="Segoe UI"/>
                </a:rPr>
                <a:t>المواسير مدفونة ولا يمكن فحصها، فتبقى الأعطال مجهولة لسنوات.</a:t>
              </a:r>
            </a:p>
            <a:p>
              <a:pPr rtl="1" algn="r" marL="201168" indent="-201168">
                <a:lnSpc>
                  <a:spcPct val="112000"/>
                </a:lnSpc>
                <a:spcAft>
                  <a:spcPts val="455"/>
                </a:spcAft>
                <a:buClr>
                  <a:srgbClr val="F87171"/>
                </a:buClr>
                <a:buFont typeface="Arial"/>
                <a:buChar char="•"/>
              </a:pPr>
              <a:r>
                <a:rPr sz="1300" b="1" lang="ar-SA">
                  <a:solidFill>
                    <a:srgbClr val="F0C860"/>
                  </a:solidFill>
                  <a:latin typeface="Segoe UI"/>
                  <a:ea typeface="Segoe UI"/>
                  <a:cs typeface="Segoe UI"/>
                </a:rPr>
                <a:t>التلاعب: </a:t>
              </a:r>
              <a:r>
                <a:rPr sz="1300" b="0" lang="ar-SA">
                  <a:solidFill>
                    <a:srgbClr val="E2E8F0"/>
                  </a:solidFill>
                  <a:latin typeface="Segoe UI"/>
                  <a:ea typeface="Segoe UI"/>
                  <a:cs typeface="Segoe UI"/>
                </a:rPr>
                <a:t>سد المزارعين للمناهل السطحية لحبس مياه الأرز يتسبب في 25–40% من الأعطال.</a:t>
              </a:r>
            </a:p>
            <a:p>
              <a:pPr rtl="1" algn="r" marL="201168" indent="-201168">
                <a:lnSpc>
                  <a:spcPct val="112000"/>
                </a:lnSpc>
                <a:spcAft>
                  <a:spcPts val="455"/>
                </a:spcAft>
                <a:buClr>
                  <a:srgbClr val="F87171"/>
                </a:buClr>
                <a:buFont typeface="Arial"/>
                <a:buChar char="•"/>
              </a:pPr>
              <a:r>
                <a:rPr sz="1300" b="1" lang="ar-SA">
                  <a:solidFill>
                    <a:srgbClr val="F0C860"/>
                  </a:solidFill>
                  <a:latin typeface="Segoe UI"/>
                  <a:ea typeface="Segoe UI"/>
                  <a:cs typeface="Segoe UI"/>
                </a:rPr>
                <a:t>حل إيكو-درين: </a:t>
              </a:r>
              <a:r>
                <a:rPr sz="1300" b="0" lang="ar-SA">
                  <a:solidFill>
                    <a:srgbClr val="E2E8F0"/>
                  </a:solidFill>
                  <a:latin typeface="Segoe UI"/>
                  <a:ea typeface="Segoe UI"/>
                  <a:cs typeface="Segoe UI"/>
                </a:rPr>
                <a:t>غرف مدفونة على عمق 30–50 سم، مؤمنة بـ RFID وGPS، وحساسات اهتزاز (&gt;2.5g) ترسل إنذاراً مشفراً عبر NB-IoT.</a:t>
              </a: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731520" y="4160520"/>
            <a:ext cx="7052767" cy="2286000"/>
            <a:chOff x="731520" y="4160520"/>
            <a:chExt cx="7052767" cy="2286000"/>
          </a:xfrm>
        </p:grpSpPr>
        <p:sp>
          <p:nvSpPr>
            <p:cNvPr id="34" name="Rounded Rectangle 33"/>
            <p:cNvSpPr/>
            <p:nvPr/>
          </p:nvSpPr>
          <p:spPr>
            <a:xfrm>
              <a:off x="731520" y="4160520"/>
              <a:ext cx="7052767" cy="2286000"/>
            </a:xfrm>
            <a:prstGeom prst="roundRect">
              <a:avLst>
                <a:gd name="adj" fmla="val 8000"/>
              </a:avLst>
            </a:prstGeom>
            <a:solidFill>
              <a:srgbClr val="0F2240"/>
            </a:solidFill>
            <a:ln w="15875">
              <a:solidFill>
                <a:srgbClr val="15B5A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7519111" y="4315968"/>
              <a:ext cx="64008" cy="256032"/>
            </a:xfrm>
            <a:prstGeom prst="roundRect">
              <a:avLst>
                <a:gd name="adj" fmla="val 50000"/>
              </a:avLst>
            </a:prstGeom>
            <a:solidFill>
              <a:srgbClr val="15B5A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932688" y="4270248"/>
              <a:ext cx="6467551" cy="329184"/>
            </a:xfrm>
            <a:prstGeom prst="rect">
              <a:avLst/>
            </a:prstGeom>
            <a:noFill/>
          </p:spPr>
          <p:txBody>
            <a:bodyPr wrap="square" tIns="0" bIns="0" lIns="0" rIns="0" anchor="ctr">
              <a:spAutoFit/>
            </a:bodyPr>
            <a:lstStyle/>
            <a:p>
              <a:pPr rtl="1" algn="r">
                <a:lnSpc>
                  <a:spcPct val="112000"/>
                </a:lnSpc>
                <a:spcAft>
                  <a:spcPts val="0"/>
                </a:spcAft>
              </a:pPr>
              <a:r>
                <a:rPr sz="1500" b="1" lang="ar-SA">
                  <a:solidFill>
                    <a:srgbClr val="15B5A4"/>
                  </a:solidFill>
                  <a:latin typeface="Segoe UI"/>
                  <a:ea typeface="Segoe UI"/>
                  <a:cs typeface="Segoe UI"/>
                </a:rPr>
                <a:t>الجهة القائدة والشركاء والحوكمة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960120" y="4709159"/>
              <a:ext cx="6595567" cy="1664207"/>
            </a:xfrm>
            <a:prstGeom prst="rect">
              <a:avLst/>
            </a:prstGeom>
            <a:noFill/>
          </p:spPr>
          <p:txBody>
            <a:bodyPr wrap="square" tIns="0" bIns="0" lIns="0" rIns="0" anchor="t">
              <a:spAutoFit/>
            </a:bodyPr>
            <a:lstStyle/>
            <a:p>
              <a:pPr rtl="1" algn="r" marL="201168" indent="-201168">
                <a:lnSpc>
                  <a:spcPct val="112000"/>
                </a:lnSpc>
                <a:spcAft>
                  <a:spcPts val="419"/>
                </a:spcAft>
                <a:buClr>
                  <a:srgbClr val="15B5A4"/>
                </a:buClr>
                <a:buFont typeface="Arial"/>
                <a:buChar char="•"/>
              </a:pPr>
              <a:r>
                <a:rPr sz="1200" b="1" lang="ar-SA">
                  <a:solidFill>
                    <a:srgbClr val="F0C860"/>
                  </a:solidFill>
                  <a:latin typeface="Segoe UI"/>
                  <a:ea typeface="Segoe UI"/>
                  <a:cs typeface="Segoe UI"/>
                </a:rPr>
                <a:t>الجهة القائدة: </a:t>
              </a:r>
              <a:r>
                <a:rPr sz="1200" b="0" lang="ar-SA">
                  <a:solidFill>
                    <a:srgbClr val="E2E8F0"/>
                  </a:solidFill>
                  <a:latin typeface="Segoe UI"/>
                  <a:ea typeface="Segoe UI"/>
                  <a:cs typeface="Segoe UI"/>
                </a:rPr>
                <a:t>وزارة الموارد المائية والري (MWRI) عبر هيئة الصرف (EPADP) — المكتب الفني للوجه البحري.</a:t>
              </a:r>
            </a:p>
            <a:p>
              <a:pPr rtl="1" algn="r" marL="201168" indent="-201168">
                <a:lnSpc>
                  <a:spcPct val="112000"/>
                </a:lnSpc>
                <a:spcAft>
                  <a:spcPts val="419"/>
                </a:spcAft>
                <a:buClr>
                  <a:srgbClr val="15B5A4"/>
                </a:buClr>
                <a:buFont typeface="Arial"/>
                <a:buChar char="•"/>
              </a:pPr>
              <a:r>
                <a:rPr sz="1200" b="1" lang="ar-SA">
                  <a:solidFill>
                    <a:srgbClr val="F0C860"/>
                  </a:solidFill>
                  <a:latin typeface="Segoe UI"/>
                  <a:ea typeface="Segoe UI"/>
                  <a:cs typeface="Segoe UI"/>
                </a:rPr>
                <a:t>الشركاء: </a:t>
              </a:r>
              <a:r>
                <a:rPr sz="1200" b="0" lang="ar-SA">
                  <a:solidFill>
                    <a:srgbClr val="E2E8F0"/>
                  </a:solidFill>
                  <a:latin typeface="Segoe UI"/>
                  <a:ea typeface="Segoe UI"/>
                  <a:cs typeface="Segoe UI"/>
                </a:rPr>
                <a:t>معهد بحوث الصرف (التحقق وMRV)، وزارة الزراعة، هيئة الطاقة المتجددة وجهاز تنظيم الكهرباء (50 MW)، روابط مستخدمي المياه.</a:t>
              </a:r>
            </a:p>
            <a:p>
              <a:pPr rtl="1" algn="r" marL="201168" indent="-201168">
                <a:lnSpc>
                  <a:spcPct val="112000"/>
                </a:lnSpc>
                <a:spcAft>
                  <a:spcPts val="419"/>
                </a:spcAft>
                <a:buClr>
                  <a:srgbClr val="15B5A4"/>
                </a:buClr>
                <a:buFont typeface="Arial"/>
                <a:buChar char="•"/>
              </a:pPr>
              <a:r>
                <a:rPr sz="1200" b="1" lang="ar-SA">
                  <a:solidFill>
                    <a:srgbClr val="F0C860"/>
                  </a:solidFill>
                  <a:latin typeface="Segoe UI"/>
                  <a:ea typeface="Segoe UI"/>
                  <a:cs typeface="Segoe UI"/>
                </a:rPr>
                <a:t>الحوكمة: </a:t>
              </a:r>
              <a:r>
                <a:rPr sz="1200" b="0" lang="ar-SA">
                  <a:solidFill>
                    <a:srgbClr val="E2E8F0"/>
                  </a:solidFill>
                  <a:latin typeface="Segoe UI"/>
                  <a:ea typeface="Segoe UI"/>
                  <a:cs typeface="Segoe UI"/>
                </a:rPr>
                <a:t>لجنة توجيهية بين الوزارات، وحدة تنفيذ مخصصة (PIU) بهيئة الصرف، ومنصات محلية في كفر الشيخ والدقهلية.</a:t>
              </a:r>
            </a:p>
            <a:p>
              <a:pPr rtl="1" algn="r" marL="201168" indent="-201168">
                <a:lnSpc>
                  <a:spcPct val="112000"/>
                </a:lnSpc>
                <a:spcAft>
                  <a:spcPts val="419"/>
                </a:spcAft>
                <a:buClr>
                  <a:srgbClr val="15B5A4"/>
                </a:buClr>
                <a:buFont typeface="Arial"/>
                <a:buChar char="•"/>
              </a:pPr>
              <a:r>
                <a:rPr sz="1200" b="1" lang="ar-SA">
                  <a:solidFill>
                    <a:srgbClr val="F0C860"/>
                  </a:solidFill>
                  <a:latin typeface="Segoe UI"/>
                  <a:ea typeface="Segoe UI"/>
                  <a:cs typeface="Segoe UI"/>
                </a:rPr>
                <a:t>التوافق: </a:t>
              </a:r>
              <a:r>
                <a:rPr sz="1200" b="0" lang="ar-SA">
                  <a:solidFill>
                    <a:srgbClr val="E2E8F0"/>
                  </a:solidFill>
                  <a:latin typeface="Segoe UI"/>
                  <a:ea typeface="Segoe UI"/>
                  <a:cs typeface="Segoe UI"/>
                </a:rPr>
                <a:t>منظومة الري 2.0، ورؤية مصر 2030، واستراتيجية المناخ 2050.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D1D36"/>
            </a:gs>
            <a:gs pos="100000">
              <a:srgbClr val="060E1C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67104" y="-1554480"/>
            <a:ext cx="3840480" cy="3840480"/>
          </a:xfrm>
          <a:prstGeom prst="ellipse">
            <a:avLst/>
          </a:prstGeom>
          <a:solidFill>
            <a:srgbClr val="15B5A4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88575" y="5212080"/>
            <a:ext cx="3291840" cy="3291840"/>
          </a:xfrm>
          <a:prstGeom prst="ellipse">
            <a:avLst/>
          </a:prstGeom>
          <a:solidFill>
            <a:srgbClr val="D4A843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19" y="1463040"/>
            <a:ext cx="10728655" cy="27432"/>
          </a:xfrm>
          <a:prstGeom prst="roundRect">
            <a:avLst>
              <a:gd name="adj" fmla="val 50000"/>
            </a:avLst>
          </a:prstGeom>
          <a:solidFill>
            <a:srgbClr val="15B5A4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5" name="Group 4"/>
          <p:cNvGrpSpPr/>
          <p:nvPr/>
        </p:nvGrpSpPr>
        <p:grpSpPr>
          <a:xfrm>
            <a:off x="731519" y="274320"/>
            <a:ext cx="10728656" cy="1133856"/>
            <a:chOff x="731519" y="274320"/>
            <a:chExt cx="10728656" cy="1133856"/>
          </a:xfrm>
        </p:grpSpPr>
        <p:sp>
          <p:nvSpPr>
            <p:cNvPr id="6" name="Rounded Rectangle 5"/>
            <p:cNvSpPr/>
            <p:nvPr/>
          </p:nvSpPr>
          <p:spPr>
            <a:xfrm>
              <a:off x="7253935" y="274320"/>
              <a:ext cx="4206240" cy="310896"/>
            </a:xfrm>
            <a:prstGeom prst="roundRect">
              <a:avLst>
                <a:gd name="adj" fmla="val 50000"/>
              </a:avLst>
            </a:prstGeom>
            <a:solidFill>
              <a:srgbClr val="183158"/>
            </a:solidFill>
            <a:ln w="12700">
              <a:solidFill>
                <a:srgbClr val="15B5A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tIns="0" bIns="0" lIns="54864" rIns="54864"/>
            <a:lstStyle/>
            <a:p>
              <a:pPr algn="ctr" rtl="1">
                <a:lnSpc>
                  <a:spcPct val="112000"/>
                </a:lnSpc>
                <a:spcAft>
                  <a:spcPts val="0"/>
                </a:spcAft>
              </a:pPr>
              <a:r>
                <a:rPr sz="1100" b="1" lang="ar-SA">
                  <a:solidFill>
                    <a:srgbClr val="15B5A4"/>
                  </a:solidFill>
                  <a:latin typeface="Segoe UI"/>
                  <a:ea typeface="Segoe UI"/>
                  <a:cs typeface="Segoe UI"/>
                </a:rPr>
                <a:t>الشريحة 2 من 3  |  عرض تنفيذي لمدة 5 دقائق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31519" y="658368"/>
              <a:ext cx="10728655" cy="457200"/>
            </a:xfrm>
            <a:prstGeom prst="rect">
              <a:avLst/>
            </a:prstGeom>
            <a:noFill/>
          </p:spPr>
          <p:txBody>
            <a:bodyPr wrap="square" tIns="0" bIns="0" lIns="0" rIns="0" anchor="ctr">
              <a:spAutoFit/>
            </a:bodyPr>
            <a:lstStyle/>
            <a:p>
              <a:pPr rtl="1" algn="r">
                <a:lnSpc>
                  <a:spcPct val="112000"/>
                </a:lnSpc>
                <a:spcAft>
                  <a:spcPts val="0"/>
                </a:spcAft>
              </a:pPr>
              <a:r>
                <a:rPr sz="2600" b="1" lang="ar-SA">
                  <a:solidFill>
                    <a:srgbClr val="F8FAFC"/>
                  </a:solidFill>
                  <a:latin typeface="Segoe UI"/>
                  <a:ea typeface="Segoe UI"/>
                  <a:cs typeface="Segoe UI"/>
                </a:rPr>
                <a:t>تدخلات WEFE المتكاملة والجدوى البنكية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31519" y="1097280"/>
              <a:ext cx="10728655" cy="310896"/>
            </a:xfrm>
            <a:prstGeom prst="rect">
              <a:avLst/>
            </a:prstGeom>
            <a:noFill/>
          </p:spPr>
          <p:txBody>
            <a:bodyPr wrap="square" tIns="0" bIns="0" lIns="0" rIns="0" anchor="ctr">
              <a:spAutoFit/>
            </a:bodyPr>
            <a:lstStyle/>
            <a:p>
              <a:pPr rtl="1" algn="r">
                <a:lnSpc>
                  <a:spcPct val="112000"/>
                </a:lnSpc>
                <a:spcAft>
                  <a:spcPts val="0"/>
                </a:spcAft>
              </a:pPr>
              <a:r>
                <a:rPr sz="1400" b="0" lang="ar-SA">
                  <a:solidFill>
                    <a:srgbClr val="F0C860"/>
                  </a:solidFill>
                  <a:latin typeface="Segoe UI"/>
                  <a:ea typeface="Segoe UI"/>
                  <a:cs typeface="Segoe UI"/>
                </a:rPr>
                <a:t>أربعة تدخلات مترابطة ودرجة فرز رسمية وبطاقة قياس للمرونة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731520" y="6528816"/>
            <a:ext cx="10728655" cy="219456"/>
            <a:chOff x="731520" y="6528816"/>
            <a:chExt cx="10728655" cy="219456"/>
          </a:xfrm>
        </p:grpSpPr>
        <p:sp>
          <p:nvSpPr>
            <p:cNvPr id="10" name="TextBox 9"/>
            <p:cNvSpPr txBox="1"/>
            <p:nvPr/>
          </p:nvSpPr>
          <p:spPr>
            <a:xfrm>
              <a:off x="2773375" y="6528816"/>
              <a:ext cx="8686800" cy="219456"/>
            </a:xfrm>
            <a:prstGeom prst="rect">
              <a:avLst/>
            </a:prstGeom>
            <a:noFill/>
          </p:spPr>
          <p:txBody>
            <a:bodyPr wrap="square" tIns="0" bIns="0" lIns="0" rIns="0" anchor="ctr">
              <a:spAutoFit/>
            </a:bodyPr>
            <a:lstStyle/>
            <a:p>
              <a:pPr rtl="1" algn="r">
                <a:lnSpc>
                  <a:spcPct val="112000"/>
                </a:lnSpc>
                <a:spcAft>
                  <a:spcPts val="0"/>
                </a:spcAft>
              </a:pPr>
              <a:r>
                <a:rPr sz="1000" b="0" lang="ar-SA">
                  <a:solidFill>
                    <a:srgbClr val="94A3B8"/>
                  </a:solidFill>
                  <a:latin typeface="Segoe UI"/>
                  <a:ea typeface="Segoe UI"/>
                  <a:cs typeface="Segoe UI"/>
                </a:rPr>
                <a:t>إيكو-درين  |  المجموعة العاشرة  |  المكتب الفني لهيئة الصرف بالوجه البحري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31520" y="6528816"/>
              <a:ext cx="914400" cy="219456"/>
            </a:xfrm>
            <a:prstGeom prst="rect">
              <a:avLst/>
            </a:prstGeom>
            <a:noFill/>
          </p:spPr>
          <p:txBody>
            <a:bodyPr wrap="square" tIns="0" bIns="0" lIns="0" rIns="0" anchor="ctr">
              <a:spAutoFit/>
            </a:bodyPr>
            <a:lstStyle/>
            <a:p>
              <a:pPr rtl="1" algn="l">
                <a:lnSpc>
                  <a:spcPct val="112000"/>
                </a:lnSpc>
                <a:spcAft>
                  <a:spcPts val="0"/>
                </a:spcAft>
              </a:pPr>
              <a:r>
                <a:rPr sz="1000" b="1" lang="ar-SA">
                  <a:solidFill>
                    <a:srgbClr val="15B5A4"/>
                  </a:solidFill>
                  <a:latin typeface="Segoe UI"/>
                  <a:ea typeface="Segoe UI"/>
                  <a:cs typeface="Segoe UI"/>
                </a:rPr>
                <a:t>2 / 3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7894015" y="1554480"/>
            <a:ext cx="3566160" cy="3108960"/>
            <a:chOff x="7894015" y="1554480"/>
            <a:chExt cx="3566160" cy="3108960"/>
          </a:xfrm>
        </p:grpSpPr>
        <p:sp>
          <p:nvSpPr>
            <p:cNvPr id="13" name="Rounded Rectangle 12"/>
            <p:cNvSpPr/>
            <p:nvPr/>
          </p:nvSpPr>
          <p:spPr>
            <a:xfrm>
              <a:off x="7894015" y="1554480"/>
              <a:ext cx="3566160" cy="3108960"/>
            </a:xfrm>
            <a:prstGeom prst="roundRect">
              <a:avLst>
                <a:gd name="adj" fmla="val 5882"/>
              </a:avLst>
            </a:prstGeom>
            <a:solidFill>
              <a:srgbClr val="0F2240"/>
            </a:solidFill>
            <a:ln w="15875">
              <a:solidFill>
                <a:srgbClr val="60A5F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14" name="Picture 13" descr="fig2_wefe_nexus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96935" y="1691639"/>
              <a:ext cx="2560320" cy="2560320"/>
            </a:xfrm>
            <a:prstGeom prst="roundRect">
              <a:avLst>
                <a:gd name="adj" fmla="val 5000"/>
              </a:avLst>
            </a:prstGeom>
          </p:spPr>
        </p:pic>
        <p:sp>
          <p:nvSpPr>
            <p:cNvPr id="15" name="TextBox 14"/>
            <p:cNvSpPr txBox="1"/>
            <p:nvPr/>
          </p:nvSpPr>
          <p:spPr>
            <a:xfrm>
              <a:off x="8031175" y="4334255"/>
              <a:ext cx="3291840" cy="237744"/>
            </a:xfrm>
            <a:prstGeom prst="rect">
              <a:avLst/>
            </a:prstGeom>
            <a:noFill/>
          </p:spPr>
          <p:txBody>
            <a:bodyPr wrap="square" tIns="0" bIns="0" lIns="0" rIns="0" anchor="ctr">
              <a:spAutoFit/>
            </a:bodyPr>
            <a:lstStyle/>
            <a:p>
              <a:pPr rtl="1" algn="ctr">
                <a:lnSpc>
                  <a:spcPct val="112000"/>
                </a:lnSpc>
                <a:spcAft>
                  <a:spcPts val="0"/>
                </a:spcAft>
              </a:pPr>
              <a:r>
                <a:rPr sz="1100" b="0" lang="ar-SA">
                  <a:solidFill>
                    <a:srgbClr val="94A3B8"/>
                  </a:solidFill>
                  <a:latin typeface="Segoe UI"/>
                  <a:ea typeface="Segoe UI"/>
                  <a:cs typeface="Segoe UI"/>
                </a:rPr>
                <a:t>ترابط المياه والطاقة والغذاء والنظم البيئية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7894015" y="4754880"/>
            <a:ext cx="3566160" cy="1691639"/>
            <a:chOff x="7894015" y="4754880"/>
            <a:chExt cx="3566160" cy="1691639"/>
          </a:xfrm>
        </p:grpSpPr>
        <p:sp>
          <p:nvSpPr>
            <p:cNvPr id="17" name="Rounded Rectangle 16"/>
            <p:cNvSpPr/>
            <p:nvPr/>
          </p:nvSpPr>
          <p:spPr>
            <a:xfrm>
              <a:off x="7894015" y="4754880"/>
              <a:ext cx="3566160" cy="1691639"/>
            </a:xfrm>
            <a:prstGeom prst="roundRect">
              <a:avLst>
                <a:gd name="adj" fmla="val 10810"/>
              </a:avLst>
            </a:prstGeom>
            <a:solidFill>
              <a:srgbClr val="0F2240"/>
            </a:solidFill>
            <a:ln w="15875">
              <a:solidFill>
                <a:srgbClr val="F0C8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11194999" y="4910328"/>
              <a:ext cx="64008" cy="256032"/>
            </a:xfrm>
            <a:prstGeom prst="roundRect">
              <a:avLst>
                <a:gd name="adj" fmla="val 50000"/>
              </a:avLst>
            </a:prstGeom>
            <a:solidFill>
              <a:srgbClr val="F0C86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8095183" y="4864608"/>
              <a:ext cx="2980944" cy="329184"/>
            </a:xfrm>
            <a:prstGeom prst="rect">
              <a:avLst/>
            </a:prstGeom>
            <a:noFill/>
          </p:spPr>
          <p:txBody>
            <a:bodyPr wrap="square" tIns="0" bIns="0" lIns="0" rIns="0" anchor="ctr">
              <a:spAutoFit/>
            </a:bodyPr>
            <a:lstStyle/>
            <a:p>
              <a:pPr rtl="1" algn="r">
                <a:lnSpc>
                  <a:spcPct val="112000"/>
                </a:lnSpc>
                <a:spcAft>
                  <a:spcPts val="0"/>
                </a:spcAft>
              </a:pPr>
              <a:r>
                <a:rPr sz="1500" b="1" lang="ar-SA">
                  <a:solidFill>
                    <a:srgbClr val="F0C860"/>
                  </a:solidFill>
                  <a:latin typeface="Segoe UI"/>
                  <a:ea typeface="Segoe UI"/>
                  <a:cs typeface="Segoe UI"/>
                </a:rPr>
                <a:t>فرز WEFE ومرونة المشروع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9631375" y="5285232"/>
              <a:ext cx="1600200" cy="548640"/>
            </a:xfrm>
            <a:prstGeom prst="rect">
              <a:avLst/>
            </a:prstGeom>
            <a:noFill/>
          </p:spPr>
          <p:txBody>
            <a:bodyPr wrap="square" tIns="0" bIns="0" lIns="0" rIns="0" anchor="ctr">
              <a:spAutoFit/>
            </a:bodyPr>
            <a:lstStyle/>
            <a:p>
              <a:pPr rtl="1" algn="ctr">
                <a:lnSpc>
                  <a:spcPct val="112000"/>
                </a:lnSpc>
                <a:spcAft>
                  <a:spcPts val="0"/>
                </a:spcAft>
              </a:pPr>
              <a:r>
                <a:rPr sz="3200" b="1" lang="ar-SA">
                  <a:solidFill>
                    <a:srgbClr val="F0C860"/>
                  </a:solidFill>
                  <a:latin typeface="Segoe UI"/>
                  <a:ea typeface="Segoe UI"/>
                  <a:cs typeface="Segoe UI"/>
                </a:rPr>
                <a:t>92/100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8122615" y="5394960"/>
              <a:ext cx="1463040" cy="329184"/>
            </a:xfrm>
            <a:prstGeom prst="roundRect">
              <a:avLst>
                <a:gd name="adj" fmla="val 50000"/>
              </a:avLst>
            </a:prstGeom>
            <a:solidFill>
              <a:srgbClr val="10B98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tIns="0" bIns="0" lIns="54864" rIns="54864"/>
            <a:lstStyle/>
            <a:p>
              <a:pPr algn="ctr" rtl="1">
                <a:lnSpc>
                  <a:spcPct val="112000"/>
                </a:lnSpc>
                <a:spcAft>
                  <a:spcPts val="0"/>
                </a:spcAft>
              </a:pPr>
              <a:r>
                <a:rPr sz="1200" b="1" lang="ar-SA">
                  <a:solidFill>
                    <a:srgbClr val="0A1628"/>
                  </a:solidFill>
                  <a:latin typeface="Segoe UI"/>
                  <a:ea typeface="Segoe UI"/>
                  <a:cs typeface="Segoe UI"/>
                </a:rPr>
                <a:t>المرونة: عالية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8122615" y="5897880"/>
              <a:ext cx="3108960" cy="502919"/>
            </a:xfrm>
            <a:prstGeom prst="rect">
              <a:avLst/>
            </a:prstGeom>
            <a:noFill/>
          </p:spPr>
          <p:txBody>
            <a:bodyPr wrap="square" tIns="0" bIns="0" lIns="0" rIns="0" anchor="t">
              <a:spAutoFit/>
            </a:bodyPr>
            <a:lstStyle/>
            <a:p>
              <a:pPr rtl="1" algn="ctr">
                <a:lnSpc>
                  <a:spcPct val="112000"/>
                </a:lnSpc>
                <a:spcAft>
                  <a:spcPts val="0"/>
                </a:spcAft>
              </a:pPr>
              <a:r>
                <a:rPr sz="1200" b="0" lang="ar-SA">
                  <a:solidFill>
                    <a:srgbClr val="E2E8F0"/>
                  </a:solidFill>
                  <a:latin typeface="Segoe UI"/>
                  <a:ea typeface="Segoe UI"/>
                  <a:cs typeface="Segoe UI"/>
                </a:rPr>
                <a:t>المياه 10 · الطاقة 8 · الغذاء 10 · النظم البيئية 8 · الرقمنة 9</a:t>
              </a: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4312767" y="1554480"/>
            <a:ext cx="3471519" cy="1508760"/>
            <a:chOff x="4312767" y="1554480"/>
            <a:chExt cx="3471519" cy="1508760"/>
          </a:xfrm>
        </p:grpSpPr>
        <p:sp>
          <p:nvSpPr>
            <p:cNvPr id="24" name="Rounded Rectangle 23"/>
            <p:cNvSpPr/>
            <p:nvPr/>
          </p:nvSpPr>
          <p:spPr>
            <a:xfrm>
              <a:off x="4312767" y="1554480"/>
              <a:ext cx="3471519" cy="1508760"/>
            </a:xfrm>
            <a:prstGeom prst="roundRect">
              <a:avLst>
                <a:gd name="adj" fmla="val 12121"/>
              </a:avLst>
            </a:prstGeom>
            <a:solidFill>
              <a:srgbClr val="0F2240"/>
            </a:solidFill>
            <a:ln w="15875">
              <a:solidFill>
                <a:srgbClr val="60A5F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7519111" y="1709928"/>
              <a:ext cx="64008" cy="256032"/>
            </a:xfrm>
            <a:prstGeom prst="roundRect">
              <a:avLst>
                <a:gd name="adj" fmla="val 50000"/>
              </a:avLst>
            </a:prstGeom>
            <a:solidFill>
              <a:srgbClr val="60A5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4513935" y="1664207"/>
              <a:ext cx="2886303" cy="329184"/>
            </a:xfrm>
            <a:prstGeom prst="rect">
              <a:avLst/>
            </a:prstGeom>
            <a:noFill/>
          </p:spPr>
          <p:txBody>
            <a:bodyPr wrap="square" tIns="0" bIns="0" lIns="0" rIns="0" anchor="ctr">
              <a:spAutoFit/>
            </a:bodyPr>
            <a:lstStyle/>
            <a:p>
              <a:pPr rtl="1" algn="r">
                <a:lnSpc>
                  <a:spcPct val="112000"/>
                </a:lnSpc>
                <a:spcAft>
                  <a:spcPts val="0"/>
                </a:spcAft>
              </a:pPr>
              <a:r>
                <a:rPr sz="1500" b="1" lang="ar-SA">
                  <a:solidFill>
                    <a:srgbClr val="60A5FA"/>
                  </a:solidFill>
                  <a:latin typeface="Segoe UI"/>
                  <a:ea typeface="Segoe UI"/>
                  <a:cs typeface="Segoe UI"/>
                </a:rPr>
                <a:t>المياه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4541367" y="2029967"/>
              <a:ext cx="3014319" cy="274320"/>
            </a:xfrm>
            <a:prstGeom prst="rect">
              <a:avLst/>
            </a:prstGeom>
            <a:noFill/>
          </p:spPr>
          <p:txBody>
            <a:bodyPr wrap="square" tIns="0" bIns="0" lIns="0" rIns="0" anchor="ctr">
              <a:spAutoFit/>
            </a:bodyPr>
            <a:lstStyle/>
            <a:p>
              <a:pPr rtl="1" algn="r">
                <a:lnSpc>
                  <a:spcPct val="112000"/>
                </a:lnSpc>
                <a:spcAft>
                  <a:spcPts val="0"/>
                </a:spcAft>
              </a:pPr>
              <a:r>
                <a:rPr sz="1350" b="1" lang="ar-SA">
                  <a:solidFill>
                    <a:srgbClr val="F0C860"/>
                  </a:solidFill>
                  <a:latin typeface="Segoe UI"/>
                  <a:ea typeface="Segoe UI"/>
                  <a:cs typeface="Segoe UI"/>
                </a:rPr>
                <a:t>توفير 150 مليون م³ سنوياً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4541367" y="2340864"/>
              <a:ext cx="3014319" cy="649224"/>
            </a:xfrm>
            <a:prstGeom prst="rect">
              <a:avLst/>
            </a:prstGeom>
            <a:noFill/>
          </p:spPr>
          <p:txBody>
            <a:bodyPr wrap="square" tIns="0" bIns="0" lIns="0" rIns="0" anchor="t">
              <a:spAutoFit/>
            </a:bodyPr>
            <a:lstStyle/>
            <a:p>
              <a:pPr rtl="1" algn="r">
                <a:lnSpc>
                  <a:spcPct val="112000"/>
                </a:lnSpc>
                <a:spcAft>
                  <a:spcPts val="0"/>
                </a:spcAft>
              </a:pPr>
              <a:r>
                <a:rPr sz="1150" b="0" lang="ar-SA">
                  <a:solidFill>
                    <a:srgbClr val="E2E8F0"/>
                  </a:solidFill>
                  <a:latin typeface="Segoe UI"/>
                  <a:ea typeface="Segoe UI"/>
                  <a:cs typeface="Segoe UI"/>
                </a:rPr>
                <a:t>مواسير HDPE وفلاتر جيوتكستيل مع صمامات ذكية تستفيد من الصعود الشعري: توفير 25–30% من مياه الري.</a:t>
              </a: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731520" y="1554480"/>
            <a:ext cx="3471519" cy="1508760"/>
            <a:chOff x="731520" y="1554480"/>
            <a:chExt cx="3471519" cy="1508760"/>
          </a:xfrm>
        </p:grpSpPr>
        <p:sp>
          <p:nvSpPr>
            <p:cNvPr id="30" name="Rounded Rectangle 29"/>
            <p:cNvSpPr/>
            <p:nvPr/>
          </p:nvSpPr>
          <p:spPr>
            <a:xfrm>
              <a:off x="731520" y="1554480"/>
              <a:ext cx="3471519" cy="1508760"/>
            </a:xfrm>
            <a:prstGeom prst="roundRect">
              <a:avLst>
                <a:gd name="adj" fmla="val 12121"/>
              </a:avLst>
            </a:prstGeom>
            <a:solidFill>
              <a:srgbClr val="0F2240"/>
            </a:solidFill>
            <a:ln w="15875">
              <a:solidFill>
                <a:srgbClr val="F0C8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3937863" y="1709928"/>
              <a:ext cx="64008" cy="256032"/>
            </a:xfrm>
            <a:prstGeom prst="roundRect">
              <a:avLst>
                <a:gd name="adj" fmla="val 50000"/>
              </a:avLst>
            </a:prstGeom>
            <a:solidFill>
              <a:srgbClr val="F0C86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932688" y="1664207"/>
              <a:ext cx="2886303" cy="329184"/>
            </a:xfrm>
            <a:prstGeom prst="rect">
              <a:avLst/>
            </a:prstGeom>
            <a:noFill/>
          </p:spPr>
          <p:txBody>
            <a:bodyPr wrap="square" tIns="0" bIns="0" lIns="0" rIns="0" anchor="ctr">
              <a:spAutoFit/>
            </a:bodyPr>
            <a:lstStyle/>
            <a:p>
              <a:pPr rtl="1" algn="r">
                <a:lnSpc>
                  <a:spcPct val="112000"/>
                </a:lnSpc>
                <a:spcAft>
                  <a:spcPts val="0"/>
                </a:spcAft>
              </a:pPr>
              <a:r>
                <a:rPr sz="1500" b="1" lang="ar-SA">
                  <a:solidFill>
                    <a:srgbClr val="F0C860"/>
                  </a:solidFill>
                  <a:latin typeface="Segoe UI"/>
                  <a:ea typeface="Segoe UI"/>
                  <a:cs typeface="Segoe UI"/>
                </a:rPr>
                <a:t>الطاقة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960120" y="2029967"/>
              <a:ext cx="3014319" cy="274320"/>
            </a:xfrm>
            <a:prstGeom prst="rect">
              <a:avLst/>
            </a:prstGeom>
            <a:noFill/>
          </p:spPr>
          <p:txBody>
            <a:bodyPr wrap="square" tIns="0" bIns="0" lIns="0" rIns="0" anchor="ctr">
              <a:spAutoFit/>
            </a:bodyPr>
            <a:lstStyle/>
            <a:p>
              <a:pPr rtl="1" algn="r">
                <a:lnSpc>
                  <a:spcPct val="112000"/>
                </a:lnSpc>
                <a:spcAft>
                  <a:spcPts val="0"/>
                </a:spcAft>
              </a:pPr>
              <a:r>
                <a:rPr sz="1350" b="1" lang="ar-SA">
                  <a:solidFill>
                    <a:srgbClr val="F0C860"/>
                  </a:solidFill>
                  <a:latin typeface="Segoe UI"/>
                  <a:ea typeface="Segoe UI"/>
                  <a:cs typeface="Segoe UI"/>
                </a:rPr>
                <a:t>50 ميجاوات · 90 جيجاواط ساعة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960120" y="2340864"/>
              <a:ext cx="3014319" cy="649224"/>
            </a:xfrm>
            <a:prstGeom prst="rect">
              <a:avLst/>
            </a:prstGeom>
            <a:noFill/>
          </p:spPr>
          <p:txBody>
            <a:bodyPr wrap="square" tIns="0" bIns="0" lIns="0" rIns="0" anchor="t">
              <a:spAutoFit/>
            </a:bodyPr>
            <a:lstStyle/>
            <a:p>
              <a:pPr rtl="1" algn="r">
                <a:lnSpc>
                  <a:spcPct val="112000"/>
                </a:lnSpc>
                <a:spcAft>
                  <a:spcPts val="0"/>
                </a:spcAft>
              </a:pPr>
              <a:r>
                <a:rPr sz="1150" b="0" lang="ar-SA">
                  <a:solidFill>
                    <a:srgbClr val="E2E8F0"/>
                  </a:solidFill>
                  <a:latin typeface="Segoe UI"/>
                  <a:ea typeface="Segoe UI"/>
                  <a:cs typeface="Segoe UI"/>
                </a:rPr>
                <a:t>طاقة شمسية موزعة على 25 محطة رفع تخفض فاتورة الضخ 40% وتصدّر الفائض بنظام صافي القياس.</a:t>
              </a: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4312767" y="3154680"/>
            <a:ext cx="3471519" cy="1508760"/>
            <a:chOff x="4312767" y="3154680"/>
            <a:chExt cx="3471519" cy="1508760"/>
          </a:xfrm>
        </p:grpSpPr>
        <p:sp>
          <p:nvSpPr>
            <p:cNvPr id="36" name="Rounded Rectangle 35"/>
            <p:cNvSpPr/>
            <p:nvPr/>
          </p:nvSpPr>
          <p:spPr>
            <a:xfrm>
              <a:off x="4312767" y="3154680"/>
              <a:ext cx="3471519" cy="1508760"/>
            </a:xfrm>
            <a:prstGeom prst="roundRect">
              <a:avLst>
                <a:gd name="adj" fmla="val 12121"/>
              </a:avLst>
            </a:prstGeom>
            <a:solidFill>
              <a:srgbClr val="0F2240"/>
            </a:solidFill>
            <a:ln w="15875">
              <a:solidFill>
                <a:srgbClr val="10B98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7519111" y="3310128"/>
              <a:ext cx="64008" cy="256032"/>
            </a:xfrm>
            <a:prstGeom prst="roundRect">
              <a:avLst>
                <a:gd name="adj" fmla="val 50000"/>
              </a:avLst>
            </a:prstGeom>
            <a:solidFill>
              <a:srgbClr val="10B98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4513935" y="3264408"/>
              <a:ext cx="2886303" cy="329184"/>
            </a:xfrm>
            <a:prstGeom prst="rect">
              <a:avLst/>
            </a:prstGeom>
            <a:noFill/>
          </p:spPr>
          <p:txBody>
            <a:bodyPr wrap="square" tIns="0" bIns="0" lIns="0" rIns="0" anchor="ctr">
              <a:spAutoFit/>
            </a:bodyPr>
            <a:lstStyle/>
            <a:p>
              <a:pPr rtl="1" algn="r">
                <a:lnSpc>
                  <a:spcPct val="112000"/>
                </a:lnSpc>
                <a:spcAft>
                  <a:spcPts val="0"/>
                </a:spcAft>
              </a:pPr>
              <a:r>
                <a:rPr sz="1500" b="1" lang="ar-SA">
                  <a:solidFill>
                    <a:srgbClr val="10B981"/>
                  </a:solidFill>
                  <a:latin typeface="Segoe UI"/>
                  <a:ea typeface="Segoe UI"/>
                  <a:cs typeface="Segoe UI"/>
                </a:rPr>
                <a:t>الغذاء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4541367" y="3630168"/>
              <a:ext cx="3014319" cy="274320"/>
            </a:xfrm>
            <a:prstGeom prst="rect">
              <a:avLst/>
            </a:prstGeom>
            <a:noFill/>
          </p:spPr>
          <p:txBody>
            <a:bodyPr wrap="square" tIns="0" bIns="0" lIns="0" rIns="0" anchor="ctr">
              <a:spAutoFit/>
            </a:bodyPr>
            <a:lstStyle/>
            <a:p>
              <a:pPr rtl="1" algn="r">
                <a:lnSpc>
                  <a:spcPct val="112000"/>
                </a:lnSpc>
                <a:spcAft>
                  <a:spcPts val="0"/>
                </a:spcAft>
              </a:pPr>
              <a:r>
                <a:rPr sz="1350" b="1" lang="ar-SA">
                  <a:solidFill>
                    <a:srgbClr val="F0C860"/>
                  </a:solidFill>
                  <a:latin typeface="Segoe UI"/>
                  <a:ea typeface="Segoe UI"/>
                  <a:cs typeface="Segoe UI"/>
                </a:rPr>
                <a:t>زيادة الإنتاجية 15–25%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4541367" y="3941064"/>
              <a:ext cx="3014319" cy="649224"/>
            </a:xfrm>
            <a:prstGeom prst="rect">
              <a:avLst/>
            </a:prstGeom>
            <a:noFill/>
          </p:spPr>
          <p:txBody>
            <a:bodyPr wrap="square" tIns="0" bIns="0" lIns="0" rIns="0" anchor="t">
              <a:spAutoFit/>
            </a:bodyPr>
            <a:lstStyle/>
            <a:p>
              <a:pPr rtl="1" algn="r">
                <a:lnSpc>
                  <a:spcPct val="112000"/>
                </a:lnSpc>
                <a:spcAft>
                  <a:spcPts val="0"/>
                </a:spcAft>
              </a:pPr>
              <a:r>
                <a:rPr sz="1150" b="0" lang="ar-SA">
                  <a:solidFill>
                    <a:srgbClr val="E2E8F0"/>
                  </a:solidFill>
                  <a:latin typeface="Segoe UI"/>
                  <a:ea typeface="Segoe UI"/>
                  <a:cs typeface="Segoe UI"/>
                </a:rPr>
                <a:t>استعادة غلة القمح والأرز والذرة لـ 200,000 مزارع مع غسيل آلي عند ارتفاع الملوحة.</a:t>
              </a: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731520" y="3154680"/>
            <a:ext cx="3471519" cy="1508760"/>
            <a:chOff x="731520" y="3154680"/>
            <a:chExt cx="3471519" cy="1508760"/>
          </a:xfrm>
        </p:grpSpPr>
        <p:sp>
          <p:nvSpPr>
            <p:cNvPr id="42" name="Rounded Rectangle 41"/>
            <p:cNvSpPr/>
            <p:nvPr/>
          </p:nvSpPr>
          <p:spPr>
            <a:xfrm>
              <a:off x="731520" y="3154680"/>
              <a:ext cx="3471519" cy="1508760"/>
            </a:xfrm>
            <a:prstGeom prst="roundRect">
              <a:avLst>
                <a:gd name="adj" fmla="val 12121"/>
              </a:avLst>
            </a:prstGeom>
            <a:solidFill>
              <a:srgbClr val="0F2240"/>
            </a:solidFill>
            <a:ln w="15875">
              <a:solidFill>
                <a:srgbClr val="15B5A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3937863" y="3310128"/>
              <a:ext cx="64008" cy="256032"/>
            </a:xfrm>
            <a:prstGeom prst="roundRect">
              <a:avLst>
                <a:gd name="adj" fmla="val 50000"/>
              </a:avLst>
            </a:prstGeom>
            <a:solidFill>
              <a:srgbClr val="15B5A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932688" y="3264408"/>
              <a:ext cx="2886303" cy="329184"/>
            </a:xfrm>
            <a:prstGeom prst="rect">
              <a:avLst/>
            </a:prstGeom>
            <a:noFill/>
          </p:spPr>
          <p:txBody>
            <a:bodyPr wrap="square" tIns="0" bIns="0" lIns="0" rIns="0" anchor="ctr">
              <a:spAutoFit/>
            </a:bodyPr>
            <a:lstStyle/>
            <a:p>
              <a:pPr rtl="1" algn="r">
                <a:lnSpc>
                  <a:spcPct val="112000"/>
                </a:lnSpc>
                <a:spcAft>
                  <a:spcPts val="0"/>
                </a:spcAft>
              </a:pPr>
              <a:r>
                <a:rPr sz="1500" b="1" lang="ar-SA">
                  <a:solidFill>
                    <a:srgbClr val="15B5A4"/>
                  </a:solidFill>
                  <a:latin typeface="Segoe UI"/>
                  <a:ea typeface="Segoe UI"/>
                  <a:cs typeface="Segoe UI"/>
                </a:rPr>
                <a:t>النظم البيئية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960120" y="3630168"/>
              <a:ext cx="3014319" cy="274320"/>
            </a:xfrm>
            <a:prstGeom prst="rect">
              <a:avLst/>
            </a:prstGeom>
            <a:noFill/>
          </p:spPr>
          <p:txBody>
            <a:bodyPr wrap="square" tIns="0" bIns="0" lIns="0" rIns="0" anchor="ctr">
              <a:spAutoFit/>
            </a:bodyPr>
            <a:lstStyle/>
            <a:p>
              <a:pPr rtl="1" algn="r">
                <a:lnSpc>
                  <a:spcPct val="112000"/>
                </a:lnSpc>
                <a:spcAft>
                  <a:spcPts val="0"/>
                </a:spcAft>
              </a:pPr>
              <a:r>
                <a:rPr sz="1350" b="1" lang="ar-SA">
                  <a:solidFill>
                    <a:srgbClr val="F0C860"/>
                  </a:solidFill>
                  <a:latin typeface="Segoe UI"/>
                  <a:ea typeface="Segoe UI"/>
                  <a:cs typeface="Segoe UI"/>
                </a:rPr>
                <a:t>100 ألف طن CO₂ · 4,760 فدان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960120" y="3941064"/>
              <a:ext cx="3014319" cy="649224"/>
            </a:xfrm>
            <a:prstGeom prst="rect">
              <a:avLst/>
            </a:prstGeom>
            <a:noFill/>
          </p:spPr>
          <p:txBody>
            <a:bodyPr wrap="square" tIns="0" bIns="0" lIns="0" rIns="0" anchor="t">
              <a:spAutoFit/>
            </a:bodyPr>
            <a:lstStyle/>
            <a:p>
              <a:pPr rtl="1" algn="r">
                <a:lnSpc>
                  <a:spcPct val="112000"/>
                </a:lnSpc>
                <a:spcAft>
                  <a:spcPts val="0"/>
                </a:spcAft>
              </a:pPr>
              <a:r>
                <a:rPr sz="1150" b="0" lang="ar-SA">
                  <a:solidFill>
                    <a:srgbClr val="E2E8F0"/>
                  </a:solidFill>
                  <a:latin typeface="Segoe UI"/>
                  <a:ea typeface="Segoe UI"/>
                  <a:cs typeface="Segoe UI"/>
                </a:rPr>
                <a:t>20 أرضاً رطبة تعالج 200 مليون م³ سنوياً وتحمي بحيرات الدلتا (كربون أزرق Verra).</a:t>
              </a:r>
            </a:p>
          </p:txBody>
        </p:sp>
      </p:grpSp>
      <p:grpSp>
        <p:nvGrpSpPr>
          <p:cNvPr id="47" name="Group 46"/>
          <p:cNvGrpSpPr/>
          <p:nvPr/>
        </p:nvGrpSpPr>
        <p:grpSpPr>
          <a:xfrm>
            <a:off x="731520" y="4754880"/>
            <a:ext cx="7052767" cy="1691639"/>
            <a:chOff x="731520" y="4754880"/>
            <a:chExt cx="7052767" cy="1691639"/>
          </a:xfrm>
        </p:grpSpPr>
        <p:sp>
          <p:nvSpPr>
            <p:cNvPr id="48" name="Rounded Rectangle 47"/>
            <p:cNvSpPr/>
            <p:nvPr/>
          </p:nvSpPr>
          <p:spPr>
            <a:xfrm>
              <a:off x="731520" y="4754880"/>
              <a:ext cx="7052767" cy="1691639"/>
            </a:xfrm>
            <a:prstGeom prst="roundRect">
              <a:avLst>
                <a:gd name="adj" fmla="val 10810"/>
              </a:avLst>
            </a:prstGeom>
            <a:solidFill>
              <a:srgbClr val="0F2240"/>
            </a:solidFill>
            <a:ln w="15875">
              <a:solidFill>
                <a:srgbClr val="10B98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Rounded Rectangle 48"/>
            <p:cNvSpPr/>
            <p:nvPr/>
          </p:nvSpPr>
          <p:spPr>
            <a:xfrm>
              <a:off x="7519111" y="4910328"/>
              <a:ext cx="64008" cy="256032"/>
            </a:xfrm>
            <a:prstGeom prst="roundRect">
              <a:avLst>
                <a:gd name="adj" fmla="val 50000"/>
              </a:avLst>
            </a:prstGeom>
            <a:solidFill>
              <a:srgbClr val="10B98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932688" y="4864608"/>
              <a:ext cx="6467551" cy="329184"/>
            </a:xfrm>
            <a:prstGeom prst="rect">
              <a:avLst/>
            </a:prstGeom>
            <a:noFill/>
          </p:spPr>
          <p:txBody>
            <a:bodyPr wrap="square" tIns="0" bIns="0" lIns="0" rIns="0" anchor="ctr">
              <a:spAutoFit/>
            </a:bodyPr>
            <a:lstStyle/>
            <a:p>
              <a:pPr rtl="1" algn="r">
                <a:lnSpc>
                  <a:spcPct val="112000"/>
                </a:lnSpc>
                <a:spcAft>
                  <a:spcPts val="0"/>
                </a:spcAft>
              </a:pPr>
              <a:r>
                <a:rPr sz="1500" b="1" lang="ar-SA">
                  <a:solidFill>
                    <a:srgbClr val="10B981"/>
                  </a:solidFill>
                  <a:latin typeface="Segoe UI"/>
                  <a:ea typeface="Segoe UI"/>
                  <a:cs typeface="Segoe UI"/>
                </a:rPr>
                <a:t>كيف يعزز تكامل WEFE الجدوى البنكية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960120" y="5303520"/>
              <a:ext cx="6595567" cy="1069847"/>
            </a:xfrm>
            <a:prstGeom prst="rect">
              <a:avLst/>
            </a:prstGeom>
            <a:noFill/>
          </p:spPr>
          <p:txBody>
            <a:bodyPr wrap="square" tIns="0" bIns="0" lIns="0" rIns="0" anchor="t">
              <a:spAutoFit/>
            </a:bodyPr>
            <a:lstStyle/>
            <a:p>
              <a:pPr rtl="1" algn="r" marL="201168" indent="-201168">
                <a:lnSpc>
                  <a:spcPct val="112000"/>
                </a:lnSpc>
                <a:spcAft>
                  <a:spcPts val="384"/>
                </a:spcAft>
                <a:buClr>
                  <a:srgbClr val="10B981"/>
                </a:buClr>
                <a:buFont typeface="Arial"/>
                <a:buChar char="•"/>
              </a:pPr>
              <a:r>
                <a:rPr sz="1100" b="1" lang="ar-SA">
                  <a:solidFill>
                    <a:srgbClr val="F0C860"/>
                  </a:solidFill>
                  <a:latin typeface="Segoe UI"/>
                  <a:ea typeface="Segoe UI"/>
                  <a:cs typeface="Segoe UI"/>
                </a:rPr>
                <a:t>تشغيل ذاتي التمويل: </a:t>
              </a:r>
              <a:r>
                <a:rPr sz="1100" b="0" lang="ar-SA">
                  <a:solidFill>
                    <a:srgbClr val="E2E8F0"/>
                  </a:solidFill>
                  <a:latin typeface="Segoe UI"/>
                  <a:ea typeface="Segoe UI"/>
                  <a:cs typeface="Segoe UI"/>
                </a:rPr>
                <a:t>الطاقة الشمسية تسدد كهرباء الطلمبات وتحمي نسبة خدمة الدين 1.35x.</a:t>
              </a:r>
            </a:p>
            <a:p>
              <a:pPr rtl="1" algn="r" marL="201168" indent="-201168">
                <a:lnSpc>
                  <a:spcPct val="112000"/>
                </a:lnSpc>
                <a:spcAft>
                  <a:spcPts val="384"/>
                </a:spcAft>
                <a:buClr>
                  <a:srgbClr val="10B981"/>
                </a:buClr>
                <a:buFont typeface="Arial"/>
                <a:buChar char="•"/>
              </a:pPr>
              <a:r>
                <a:rPr sz="1100" b="1" lang="ar-SA">
                  <a:solidFill>
                    <a:srgbClr val="F0C860"/>
                  </a:solidFill>
                  <a:latin typeface="Segoe UI"/>
                  <a:ea typeface="Segoe UI"/>
                  <a:cs typeface="Segoe UI"/>
                </a:rPr>
                <a:t>تكلفة متجنبة وإيرادات: </a:t>
              </a:r>
              <a:r>
                <a:rPr sz="1100" b="0" lang="ar-SA">
                  <a:solidFill>
                    <a:srgbClr val="E2E8F0"/>
                  </a:solidFill>
                  <a:latin typeface="Segoe UI"/>
                  <a:ea typeface="Segoe UI"/>
                  <a:cs typeface="Segoe UI"/>
                </a:rPr>
                <a:t>توفير 150 مليون م³ ≈ 52.5 مليون دولار سنوياً، واسترداد خلال 0.48 سنة، وإيرادات طاقة وتصدير ومياه وكربون.</a:t>
              </a:r>
            </a:p>
            <a:p>
              <a:pPr rtl="1" algn="r" marL="201168" indent="-201168">
                <a:lnSpc>
                  <a:spcPct val="112000"/>
                </a:lnSpc>
                <a:spcAft>
                  <a:spcPts val="384"/>
                </a:spcAft>
                <a:buClr>
                  <a:srgbClr val="10B981"/>
                </a:buClr>
                <a:buFont typeface="Arial"/>
                <a:buChar char="•"/>
              </a:pPr>
              <a:r>
                <a:rPr sz="1100" b="1" lang="ar-SA">
                  <a:solidFill>
                    <a:srgbClr val="F0C860"/>
                  </a:solidFill>
                  <a:latin typeface="Segoe UI"/>
                  <a:ea typeface="Segoe UI"/>
                  <a:cs typeface="Segoe UI"/>
                </a:rPr>
                <a:t>بلا تهجير: </a:t>
              </a:r>
              <a:r>
                <a:rPr sz="1100" b="0" lang="ar-SA">
                  <a:solidFill>
                    <a:srgbClr val="E2E8F0"/>
                  </a:solidFill>
                  <a:latin typeface="Segoe UI"/>
                  <a:ea typeface="Segoe UI"/>
                  <a:cs typeface="Segoe UI"/>
                </a:rPr>
                <a:t>تطوير موضعي دون إعادة توطين أو نزاعات مجتمعية.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D1D36"/>
            </a:gs>
            <a:gs pos="100000">
              <a:srgbClr val="060E1C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67104" y="-1554480"/>
            <a:ext cx="3840480" cy="3840480"/>
          </a:xfrm>
          <a:prstGeom prst="ellipse">
            <a:avLst/>
          </a:prstGeom>
          <a:solidFill>
            <a:srgbClr val="15B5A4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88575" y="5212080"/>
            <a:ext cx="3291840" cy="3291840"/>
          </a:xfrm>
          <a:prstGeom prst="ellipse">
            <a:avLst/>
          </a:prstGeom>
          <a:solidFill>
            <a:srgbClr val="D4A843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19" y="1463040"/>
            <a:ext cx="10728655" cy="27432"/>
          </a:xfrm>
          <a:prstGeom prst="roundRect">
            <a:avLst>
              <a:gd name="adj" fmla="val 50000"/>
            </a:avLst>
          </a:prstGeom>
          <a:solidFill>
            <a:srgbClr val="15B5A4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5" name="Group 4"/>
          <p:cNvGrpSpPr/>
          <p:nvPr/>
        </p:nvGrpSpPr>
        <p:grpSpPr>
          <a:xfrm>
            <a:off x="731519" y="274320"/>
            <a:ext cx="10728656" cy="1133856"/>
            <a:chOff x="731519" y="274320"/>
            <a:chExt cx="10728656" cy="1133856"/>
          </a:xfrm>
        </p:grpSpPr>
        <p:sp>
          <p:nvSpPr>
            <p:cNvPr id="6" name="Rounded Rectangle 5"/>
            <p:cNvSpPr/>
            <p:nvPr/>
          </p:nvSpPr>
          <p:spPr>
            <a:xfrm>
              <a:off x="7253935" y="274320"/>
              <a:ext cx="4206240" cy="310896"/>
            </a:xfrm>
            <a:prstGeom prst="roundRect">
              <a:avLst>
                <a:gd name="adj" fmla="val 50000"/>
              </a:avLst>
            </a:prstGeom>
            <a:solidFill>
              <a:srgbClr val="183158"/>
            </a:solidFill>
            <a:ln w="12700">
              <a:solidFill>
                <a:srgbClr val="15B5A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tIns="0" bIns="0" lIns="54864" rIns="54864"/>
            <a:lstStyle/>
            <a:p>
              <a:pPr algn="ctr" rtl="1">
                <a:lnSpc>
                  <a:spcPct val="112000"/>
                </a:lnSpc>
                <a:spcAft>
                  <a:spcPts val="0"/>
                </a:spcAft>
              </a:pPr>
              <a:r>
                <a:rPr sz="1100" b="1" lang="ar-SA">
                  <a:solidFill>
                    <a:srgbClr val="15B5A4"/>
                  </a:solidFill>
                  <a:latin typeface="Segoe UI"/>
                  <a:ea typeface="Segoe UI"/>
                  <a:cs typeface="Segoe UI"/>
                </a:rPr>
                <a:t>الشريحة 3 من 3  |  عرض تنفيذي لمدة 5 دقائق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31519" y="658368"/>
              <a:ext cx="10728655" cy="457200"/>
            </a:xfrm>
            <a:prstGeom prst="rect">
              <a:avLst/>
            </a:prstGeom>
            <a:noFill/>
          </p:spPr>
          <p:txBody>
            <a:bodyPr wrap="square" tIns="0" bIns="0" lIns="0" rIns="0" anchor="ctr">
              <a:spAutoFit/>
            </a:bodyPr>
            <a:lstStyle/>
            <a:p>
              <a:pPr rtl="1" algn="r">
                <a:lnSpc>
                  <a:spcPct val="112000"/>
                </a:lnSpc>
                <a:spcAft>
                  <a:spcPts val="0"/>
                </a:spcAft>
              </a:pPr>
              <a:r>
                <a:rPr sz="2600" b="1" lang="ar-SA">
                  <a:solidFill>
                    <a:srgbClr val="F8FAFC"/>
                  </a:solidFill>
                  <a:latin typeface="Segoe UI"/>
                  <a:ea typeface="Segoe UI"/>
                  <a:cs typeface="Segoe UI"/>
                </a:rPr>
                <a:t>هيكل التمويل والجاهزية والنتائج المتوقعة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31519" y="1097280"/>
              <a:ext cx="10728655" cy="310896"/>
            </a:xfrm>
            <a:prstGeom prst="rect">
              <a:avLst/>
            </a:prstGeom>
            <a:noFill/>
          </p:spPr>
          <p:txBody>
            <a:bodyPr wrap="square" tIns="0" bIns="0" lIns="0" rIns="0" anchor="ctr">
              <a:spAutoFit/>
            </a:bodyPr>
            <a:lstStyle/>
            <a:p>
              <a:pPr rtl="1" algn="r">
                <a:lnSpc>
                  <a:spcPct val="112000"/>
                </a:lnSpc>
                <a:spcAft>
                  <a:spcPts val="0"/>
                </a:spcAft>
              </a:pPr>
              <a:r>
                <a:rPr sz="1400" b="0" lang="ar-SA">
                  <a:solidFill>
                    <a:srgbClr val="F0C860"/>
                  </a:solidFill>
                  <a:latin typeface="Segoe UI"/>
                  <a:ea typeface="Segoe UI"/>
                  <a:cs typeface="Segoe UI"/>
                </a:rPr>
                <a:t>تمويل مختلط بقيمة 420 مليون دولار وحقل تجريبي جاهز ومسار توسع من ثلاث مراحل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731520" y="6528816"/>
            <a:ext cx="10728655" cy="219456"/>
            <a:chOff x="731520" y="6528816"/>
            <a:chExt cx="10728655" cy="219456"/>
          </a:xfrm>
        </p:grpSpPr>
        <p:sp>
          <p:nvSpPr>
            <p:cNvPr id="10" name="TextBox 9"/>
            <p:cNvSpPr txBox="1"/>
            <p:nvPr/>
          </p:nvSpPr>
          <p:spPr>
            <a:xfrm>
              <a:off x="2773375" y="6528816"/>
              <a:ext cx="8686800" cy="219456"/>
            </a:xfrm>
            <a:prstGeom prst="rect">
              <a:avLst/>
            </a:prstGeom>
            <a:noFill/>
          </p:spPr>
          <p:txBody>
            <a:bodyPr wrap="square" tIns="0" bIns="0" lIns="0" rIns="0" anchor="ctr">
              <a:spAutoFit/>
            </a:bodyPr>
            <a:lstStyle/>
            <a:p>
              <a:pPr rtl="1" algn="r">
                <a:lnSpc>
                  <a:spcPct val="112000"/>
                </a:lnSpc>
                <a:spcAft>
                  <a:spcPts val="0"/>
                </a:spcAft>
              </a:pPr>
              <a:r>
                <a:rPr sz="1000" b="0" lang="ar-SA">
                  <a:solidFill>
                    <a:srgbClr val="94A3B8"/>
                  </a:solidFill>
                  <a:latin typeface="Segoe UI"/>
                  <a:ea typeface="Segoe UI"/>
                  <a:cs typeface="Segoe UI"/>
                </a:rPr>
                <a:t>إيكو-درين  |  المجموعة العاشرة  |  المكتب الفني لهيئة الصرف بالوجه البحري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31520" y="6528816"/>
              <a:ext cx="914400" cy="219456"/>
            </a:xfrm>
            <a:prstGeom prst="rect">
              <a:avLst/>
            </a:prstGeom>
            <a:noFill/>
          </p:spPr>
          <p:txBody>
            <a:bodyPr wrap="square" tIns="0" bIns="0" lIns="0" rIns="0" anchor="ctr">
              <a:spAutoFit/>
            </a:bodyPr>
            <a:lstStyle/>
            <a:p>
              <a:pPr rtl="1" algn="l">
                <a:lnSpc>
                  <a:spcPct val="112000"/>
                </a:lnSpc>
                <a:spcAft>
                  <a:spcPts val="0"/>
                </a:spcAft>
              </a:pPr>
              <a:r>
                <a:rPr sz="1000" b="1" lang="ar-SA">
                  <a:solidFill>
                    <a:srgbClr val="15B5A4"/>
                  </a:solidFill>
                  <a:latin typeface="Segoe UI"/>
                  <a:ea typeface="Segoe UI"/>
                  <a:cs typeface="Segoe UI"/>
                </a:rPr>
                <a:t>3 / 3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7894015" y="1554480"/>
            <a:ext cx="3566160" cy="2331720"/>
            <a:chOff x="7894015" y="1554480"/>
            <a:chExt cx="3566160" cy="2331720"/>
          </a:xfrm>
        </p:grpSpPr>
        <p:sp>
          <p:nvSpPr>
            <p:cNvPr id="13" name="Rounded Rectangle 12"/>
            <p:cNvSpPr/>
            <p:nvPr/>
          </p:nvSpPr>
          <p:spPr>
            <a:xfrm>
              <a:off x="7894015" y="1554480"/>
              <a:ext cx="3566160" cy="2331720"/>
            </a:xfrm>
            <a:prstGeom prst="roundRect">
              <a:avLst>
                <a:gd name="adj" fmla="val 7843"/>
              </a:avLst>
            </a:prstGeom>
            <a:solidFill>
              <a:srgbClr val="0F2240"/>
            </a:solidFill>
            <a:ln w="15875">
              <a:solidFill>
                <a:srgbClr val="F0C8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14" name="Picture 13" descr="fig5_capital_stack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785555" y="1691639"/>
              <a:ext cx="1783080" cy="1783080"/>
            </a:xfrm>
            <a:prstGeom prst="roundRect">
              <a:avLst>
                <a:gd name="adj" fmla="val 7179"/>
              </a:avLst>
            </a:prstGeom>
          </p:spPr>
        </p:pic>
        <p:sp>
          <p:nvSpPr>
            <p:cNvPr id="15" name="TextBox 14"/>
            <p:cNvSpPr txBox="1"/>
            <p:nvPr/>
          </p:nvSpPr>
          <p:spPr>
            <a:xfrm>
              <a:off x="8031175" y="3557016"/>
              <a:ext cx="3291840" cy="237744"/>
            </a:xfrm>
            <a:prstGeom prst="rect">
              <a:avLst/>
            </a:prstGeom>
            <a:noFill/>
          </p:spPr>
          <p:txBody>
            <a:bodyPr wrap="square" tIns="0" bIns="0" lIns="0" rIns="0" anchor="ctr">
              <a:spAutoFit/>
            </a:bodyPr>
            <a:lstStyle/>
            <a:p>
              <a:pPr rtl="1" algn="ctr">
                <a:lnSpc>
                  <a:spcPct val="112000"/>
                </a:lnSpc>
                <a:spcAft>
                  <a:spcPts val="0"/>
                </a:spcAft>
              </a:pPr>
              <a:r>
                <a:rPr sz="1100" b="0" lang="ar-SA">
                  <a:solidFill>
                    <a:srgbClr val="94A3B8"/>
                  </a:solidFill>
                  <a:latin typeface="Segoe UI"/>
                  <a:ea typeface="Segoe UI"/>
                  <a:cs typeface="Segoe UI"/>
                </a:rPr>
                <a:t>هيكل رأس المال المختلط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7894015" y="3977639"/>
            <a:ext cx="3566160" cy="2468880"/>
            <a:chOff x="7894015" y="3977639"/>
            <a:chExt cx="3566160" cy="2468880"/>
          </a:xfrm>
        </p:grpSpPr>
        <p:sp>
          <p:nvSpPr>
            <p:cNvPr id="17" name="Rounded Rectangle 16"/>
            <p:cNvSpPr/>
            <p:nvPr/>
          </p:nvSpPr>
          <p:spPr>
            <a:xfrm>
              <a:off x="7894015" y="3977639"/>
              <a:ext cx="3566160" cy="2468880"/>
            </a:xfrm>
            <a:prstGeom prst="roundRect">
              <a:avLst>
                <a:gd name="adj" fmla="val 7407"/>
              </a:avLst>
            </a:prstGeom>
            <a:solidFill>
              <a:srgbClr val="0F2240"/>
            </a:solidFill>
            <a:ln w="15875">
              <a:solidFill>
                <a:srgbClr val="15B5A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11194999" y="4133087"/>
              <a:ext cx="64008" cy="256032"/>
            </a:xfrm>
            <a:prstGeom prst="roundRect">
              <a:avLst>
                <a:gd name="adj" fmla="val 50000"/>
              </a:avLst>
            </a:prstGeom>
            <a:solidFill>
              <a:srgbClr val="15B5A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8095183" y="4087368"/>
              <a:ext cx="2980944" cy="329184"/>
            </a:xfrm>
            <a:prstGeom prst="rect">
              <a:avLst/>
            </a:prstGeom>
            <a:noFill/>
          </p:spPr>
          <p:txBody>
            <a:bodyPr wrap="square" tIns="0" bIns="0" lIns="0" rIns="0" anchor="ctr">
              <a:spAutoFit/>
            </a:bodyPr>
            <a:lstStyle/>
            <a:p>
              <a:pPr rtl="1" algn="r">
                <a:lnSpc>
                  <a:spcPct val="112000"/>
                </a:lnSpc>
                <a:spcAft>
                  <a:spcPts val="0"/>
                </a:spcAft>
              </a:pPr>
              <a:r>
                <a:rPr sz="1500" b="1" lang="ar-SA">
                  <a:solidFill>
                    <a:srgbClr val="15B5A4"/>
                  </a:solidFill>
                  <a:latin typeface="Segoe UI"/>
                  <a:ea typeface="Segoe UI"/>
                  <a:cs typeface="Segoe UI"/>
                </a:rPr>
                <a:t>ملاءمة جهات التمويل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10390327" y="4562855"/>
              <a:ext cx="868680" cy="310896"/>
            </a:xfrm>
            <a:prstGeom prst="roundRect">
              <a:avLst>
                <a:gd name="adj" fmla="val 50000"/>
              </a:avLst>
            </a:prstGeom>
            <a:solidFill>
              <a:srgbClr val="F0C86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tIns="0" bIns="0" lIns="54864" rIns="54864"/>
            <a:lstStyle/>
            <a:p>
              <a:pPr algn="ctr" rtl="1">
                <a:lnSpc>
                  <a:spcPct val="112000"/>
                </a:lnSpc>
                <a:spcAft>
                  <a:spcPts val="0"/>
                </a:spcAft>
              </a:pPr>
              <a:r>
                <a:rPr sz="1200" b="1" lang="ar-SA">
                  <a:solidFill>
                    <a:srgbClr val="0A1628"/>
                  </a:solidFill>
                  <a:latin typeface="Segoe UI"/>
                  <a:ea typeface="Segoe UI"/>
                  <a:cs typeface="Segoe UI"/>
                </a:rPr>
                <a:t>14/14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8076895" y="4526279"/>
              <a:ext cx="2194560" cy="603504"/>
            </a:xfrm>
            <a:prstGeom prst="rect">
              <a:avLst/>
            </a:prstGeom>
            <a:noFill/>
          </p:spPr>
          <p:txBody>
            <a:bodyPr wrap="square" tIns="0" bIns="0" lIns="0" rIns="0" anchor="t">
              <a:spAutoFit/>
            </a:bodyPr>
            <a:lstStyle/>
            <a:p>
              <a:pPr rtl="1" algn="r">
                <a:lnSpc>
                  <a:spcPct val="112000"/>
                </a:lnSpc>
                <a:spcAft>
                  <a:spcPts val="0"/>
                </a:spcAft>
              </a:pPr>
              <a:r>
                <a:rPr sz="1200" b="1" lang="ar-SA">
                  <a:solidFill>
                    <a:srgbClr val="F8FAFC"/>
                  </a:solidFill>
                  <a:latin typeface="Segoe UI"/>
                  <a:ea typeface="Segoe UI"/>
                  <a:cs typeface="Segoe UI"/>
                </a:rPr>
                <a:t>صندوق المناخ الأخضر (GCF)</a:t>
              </a:r>
            </a:p>
            <a:p>
              <a:pPr rtl="1" algn="r">
                <a:lnSpc>
                  <a:spcPct val="112000"/>
                </a:lnSpc>
                <a:spcAft>
                  <a:spcPts val="0"/>
                </a:spcAft>
              </a:pPr>
              <a:r>
                <a:rPr sz="1050" b="0" lang="ar-SA">
                  <a:solidFill>
                    <a:srgbClr val="94A3B8"/>
                  </a:solidFill>
                  <a:latin typeface="Segoe UI"/>
                  <a:ea typeface="Segoe UI"/>
                  <a:cs typeface="Segoe UI"/>
                </a:rPr>
                <a:t>تكيف تحويلي ورقمنة MRV. القرار: المضي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10390327" y="5184647"/>
              <a:ext cx="868680" cy="310896"/>
            </a:xfrm>
            <a:prstGeom prst="roundRect">
              <a:avLst>
                <a:gd name="adj" fmla="val 50000"/>
              </a:avLst>
            </a:prstGeom>
            <a:solidFill>
              <a:srgbClr val="F0C86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tIns="0" bIns="0" lIns="54864" rIns="54864"/>
            <a:lstStyle/>
            <a:p>
              <a:pPr algn="ctr" rtl="1">
                <a:lnSpc>
                  <a:spcPct val="112000"/>
                </a:lnSpc>
                <a:spcAft>
                  <a:spcPts val="0"/>
                </a:spcAft>
              </a:pPr>
              <a:r>
                <a:rPr sz="1200" b="1" lang="ar-SA">
                  <a:solidFill>
                    <a:srgbClr val="0A1628"/>
                  </a:solidFill>
                  <a:latin typeface="Segoe UI"/>
                  <a:ea typeface="Segoe UI"/>
                  <a:cs typeface="Segoe UI"/>
                </a:rPr>
                <a:t>13/14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8076895" y="5148071"/>
              <a:ext cx="2194560" cy="603504"/>
            </a:xfrm>
            <a:prstGeom prst="rect">
              <a:avLst/>
            </a:prstGeom>
            <a:noFill/>
          </p:spPr>
          <p:txBody>
            <a:bodyPr wrap="square" tIns="0" bIns="0" lIns="0" rIns="0" anchor="t">
              <a:spAutoFit/>
            </a:bodyPr>
            <a:lstStyle/>
            <a:p>
              <a:pPr rtl="1" algn="r">
                <a:lnSpc>
                  <a:spcPct val="112000"/>
                </a:lnSpc>
                <a:spcAft>
                  <a:spcPts val="0"/>
                </a:spcAft>
              </a:pPr>
              <a:r>
                <a:rPr sz="1200" b="1" lang="ar-SA">
                  <a:solidFill>
                    <a:srgbClr val="F8FAFC"/>
                  </a:solidFill>
                  <a:latin typeface="Segoe UI"/>
                  <a:ea typeface="Segoe UI"/>
                  <a:cs typeface="Segoe UI"/>
                </a:rPr>
                <a:t>صندوق التكيف</a:t>
              </a:r>
            </a:p>
            <a:p>
              <a:pPr rtl="1" algn="r">
                <a:lnSpc>
                  <a:spcPct val="112000"/>
                </a:lnSpc>
                <a:spcAft>
                  <a:spcPts val="0"/>
                </a:spcAft>
              </a:pPr>
              <a:r>
                <a:rPr sz="1050" b="0" lang="ar-SA">
                  <a:solidFill>
                    <a:srgbClr val="94A3B8"/>
                  </a:solidFill>
                  <a:latin typeface="Segoe UI"/>
                  <a:ea typeface="Segoe UI"/>
                  <a:cs typeface="Segoe UI"/>
                </a:rPr>
                <a:t>مثالي لتمويل الحقل التجريبي. القرار: المضي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10390327" y="5806440"/>
              <a:ext cx="868680" cy="310896"/>
            </a:xfrm>
            <a:prstGeom prst="roundRect">
              <a:avLst>
                <a:gd name="adj" fmla="val 50000"/>
              </a:avLst>
            </a:prstGeom>
            <a:solidFill>
              <a:srgbClr val="F0C86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tIns="0" bIns="0" lIns="54864" rIns="54864"/>
            <a:lstStyle/>
            <a:p>
              <a:pPr algn="ctr" rtl="1">
                <a:lnSpc>
                  <a:spcPct val="112000"/>
                </a:lnSpc>
                <a:spcAft>
                  <a:spcPts val="0"/>
                </a:spcAft>
              </a:pPr>
              <a:r>
                <a:rPr sz="1200" b="1" lang="ar-SA">
                  <a:solidFill>
                    <a:srgbClr val="0A1628"/>
                  </a:solidFill>
                  <a:latin typeface="Segoe UI"/>
                  <a:ea typeface="Segoe UI"/>
                  <a:cs typeface="Segoe UI"/>
                </a:rPr>
                <a:t>مرتفعة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8076895" y="5769864"/>
              <a:ext cx="2194560" cy="603504"/>
            </a:xfrm>
            <a:prstGeom prst="rect">
              <a:avLst/>
            </a:prstGeom>
            <a:noFill/>
          </p:spPr>
          <p:txBody>
            <a:bodyPr wrap="square" tIns="0" bIns="0" lIns="0" rIns="0" anchor="t">
              <a:spAutoFit/>
            </a:bodyPr>
            <a:lstStyle/>
            <a:p>
              <a:pPr rtl="1" algn="r">
                <a:lnSpc>
                  <a:spcPct val="112000"/>
                </a:lnSpc>
                <a:spcAft>
                  <a:spcPts val="0"/>
                </a:spcAft>
              </a:pPr>
              <a:r>
                <a:rPr sz="1200" b="1" lang="ar-SA">
                  <a:solidFill>
                    <a:srgbClr val="F8FAFC"/>
                  </a:solidFill>
                  <a:latin typeface="Segoe UI"/>
                  <a:ea typeface="Segoe UI"/>
                  <a:cs typeface="Segoe UI"/>
                </a:rPr>
                <a:t>PRIMA وبوابة الاتحاد الأوروبي</a:t>
              </a:r>
            </a:p>
            <a:p>
              <a:pPr rtl="1" algn="r">
                <a:lnSpc>
                  <a:spcPct val="112000"/>
                </a:lnSpc>
                <a:spcAft>
                  <a:spcPts val="0"/>
                </a:spcAft>
              </a:pPr>
              <a:r>
                <a:rPr sz="1050" b="0" lang="ar-SA">
                  <a:solidFill>
                    <a:srgbClr val="94A3B8"/>
                  </a:solidFill>
                  <a:latin typeface="Segoe UI"/>
                  <a:ea typeface="Segoe UI"/>
                  <a:cs typeface="Segoe UI"/>
                </a:rPr>
                <a:t>ابتكار مائي زراعي وتعاون متوسطي</a:t>
              </a: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731520" y="1554480"/>
            <a:ext cx="7052767" cy="1645920"/>
            <a:chOff x="731520" y="1554480"/>
            <a:chExt cx="7052767" cy="1645920"/>
          </a:xfrm>
        </p:grpSpPr>
        <p:sp>
          <p:nvSpPr>
            <p:cNvPr id="27" name="Rounded Rectangle 26"/>
            <p:cNvSpPr/>
            <p:nvPr/>
          </p:nvSpPr>
          <p:spPr>
            <a:xfrm>
              <a:off x="731520" y="1554480"/>
              <a:ext cx="7052767" cy="1645920"/>
            </a:xfrm>
            <a:prstGeom prst="roundRect">
              <a:avLst>
                <a:gd name="adj" fmla="val 11111"/>
              </a:avLst>
            </a:prstGeom>
            <a:solidFill>
              <a:srgbClr val="0F2240"/>
            </a:solidFill>
            <a:ln w="15875">
              <a:solidFill>
                <a:srgbClr val="F0C8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7519111" y="1709928"/>
              <a:ext cx="64008" cy="256032"/>
            </a:xfrm>
            <a:prstGeom prst="roundRect">
              <a:avLst>
                <a:gd name="adj" fmla="val 50000"/>
              </a:avLst>
            </a:prstGeom>
            <a:solidFill>
              <a:srgbClr val="F0C86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932688" y="1664207"/>
              <a:ext cx="6467551" cy="329184"/>
            </a:xfrm>
            <a:prstGeom prst="rect">
              <a:avLst/>
            </a:prstGeom>
            <a:noFill/>
          </p:spPr>
          <p:txBody>
            <a:bodyPr wrap="square" tIns="0" bIns="0" lIns="0" rIns="0" anchor="ctr">
              <a:spAutoFit/>
            </a:bodyPr>
            <a:lstStyle/>
            <a:p>
              <a:pPr rtl="1" algn="r">
                <a:lnSpc>
                  <a:spcPct val="112000"/>
                </a:lnSpc>
                <a:spcAft>
                  <a:spcPts val="0"/>
                </a:spcAft>
              </a:pPr>
              <a:r>
                <a:rPr sz="1500" b="1" lang="ar-SA">
                  <a:solidFill>
                    <a:srgbClr val="F0C860"/>
                  </a:solidFill>
                  <a:latin typeface="Segoe UI"/>
                  <a:ea typeface="Segoe UI"/>
                  <a:cs typeface="Segoe UI"/>
                </a:rPr>
                <a:t>الميزانية: 420 مليون دولار (4,200 دولار للفدان)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960120" y="2084831"/>
              <a:ext cx="6595567" cy="1042416"/>
            </a:xfrm>
            <a:prstGeom prst="rect">
              <a:avLst/>
            </a:prstGeom>
            <a:noFill/>
          </p:spPr>
          <p:txBody>
            <a:bodyPr wrap="square" tIns="0" bIns="0" lIns="0" rIns="0" anchor="t">
              <a:spAutoFit/>
            </a:bodyPr>
            <a:lstStyle/>
            <a:p>
              <a:pPr rtl="1" algn="r" marL="201168" indent="-201168">
                <a:lnSpc>
                  <a:spcPct val="112000"/>
                </a:lnSpc>
                <a:spcAft>
                  <a:spcPts val="419"/>
                </a:spcAft>
                <a:buClr>
                  <a:srgbClr val="F0C860"/>
                </a:buClr>
                <a:buFont typeface="Arial"/>
                <a:buChar char="•"/>
              </a:pPr>
              <a:r>
                <a:rPr sz="1200" b="1" lang="ar-SA">
                  <a:solidFill>
                    <a:srgbClr val="F0C860"/>
                  </a:solidFill>
                  <a:latin typeface="Segoe UI"/>
                  <a:ea typeface="Segoe UI"/>
                  <a:cs typeface="Segoe UI"/>
                </a:rPr>
                <a:t>15% منح (63 مليون دولار): </a:t>
              </a:r>
              <a:r>
                <a:rPr sz="1200" b="0" lang="ar-SA">
                  <a:solidFill>
                    <a:srgbClr val="E2E8F0"/>
                  </a:solidFill>
                  <a:latin typeface="Segoe UI"/>
                  <a:ea typeface="Segoe UI"/>
                  <a:cs typeface="Segoe UI"/>
                </a:rPr>
                <a:t>GCF وAfDB والاتحاد الأوروبي للتجريبي والتوأم الرقمي.</a:t>
              </a:r>
            </a:p>
            <a:p>
              <a:pPr rtl="1" algn="r" marL="201168" indent="-201168">
                <a:lnSpc>
                  <a:spcPct val="112000"/>
                </a:lnSpc>
                <a:spcAft>
                  <a:spcPts val="419"/>
                </a:spcAft>
                <a:buClr>
                  <a:srgbClr val="F0C860"/>
                </a:buClr>
                <a:buFont typeface="Arial"/>
                <a:buChar char="•"/>
              </a:pPr>
              <a:r>
                <a:rPr sz="1200" b="1" lang="ar-SA">
                  <a:solidFill>
                    <a:srgbClr val="F0C860"/>
                  </a:solidFill>
                  <a:latin typeface="Segoe UI"/>
                  <a:ea typeface="Segoe UI"/>
                  <a:cs typeface="Segoe UI"/>
                </a:rPr>
                <a:t>20% مساهمة حكومية (84 مليون دولار): </a:t>
              </a:r>
              <a:r>
                <a:rPr sz="1200" b="0" lang="ar-SA">
                  <a:solidFill>
                    <a:srgbClr val="E2E8F0"/>
                  </a:solidFill>
                  <a:latin typeface="Segoe UI"/>
                  <a:ea typeface="Segoe UI"/>
                  <a:cs typeface="Segoe UI"/>
                </a:rPr>
                <a:t>أراضٍ ومحطات رفع وكوادر هيئة الصرف.</a:t>
              </a:r>
            </a:p>
            <a:p>
              <a:pPr rtl="1" algn="r" marL="201168" indent="-201168">
                <a:lnSpc>
                  <a:spcPct val="112000"/>
                </a:lnSpc>
                <a:spcAft>
                  <a:spcPts val="419"/>
                </a:spcAft>
                <a:buClr>
                  <a:srgbClr val="F0C860"/>
                </a:buClr>
                <a:buFont typeface="Arial"/>
                <a:buChar char="•"/>
              </a:pPr>
              <a:r>
                <a:rPr sz="1200" b="1" lang="ar-SA">
                  <a:solidFill>
                    <a:srgbClr val="F0C860"/>
                  </a:solidFill>
                  <a:latin typeface="Segoe UI"/>
                  <a:ea typeface="Segoe UI"/>
                  <a:cs typeface="Segoe UI"/>
                </a:rPr>
                <a:t>40% قروض ميسرة (168 مليون دولار): </a:t>
              </a:r>
              <a:r>
                <a:rPr sz="1200" b="0" lang="ar-SA">
                  <a:solidFill>
                    <a:srgbClr val="E2E8F0"/>
                  </a:solidFill>
                  <a:latin typeface="Segoe UI"/>
                  <a:ea typeface="Segoe UI"/>
                  <a:cs typeface="Segoe UI"/>
                </a:rPr>
                <a:t>البنك الدولي وAfDB لمدة 20–25 سنة.</a:t>
              </a:r>
            </a:p>
            <a:p>
              <a:pPr rtl="1" algn="r" marL="201168" indent="-201168">
                <a:lnSpc>
                  <a:spcPct val="112000"/>
                </a:lnSpc>
                <a:spcAft>
                  <a:spcPts val="419"/>
                </a:spcAft>
                <a:buClr>
                  <a:srgbClr val="F0C860"/>
                </a:buClr>
                <a:buFont typeface="Arial"/>
                <a:buChar char="•"/>
              </a:pPr>
              <a:r>
                <a:rPr sz="1200" b="1" lang="ar-SA">
                  <a:solidFill>
                    <a:srgbClr val="F0C860"/>
                  </a:solidFill>
                  <a:latin typeface="Segoe UI"/>
                  <a:ea typeface="Segoe UI"/>
                  <a:cs typeface="Segoe UI"/>
                </a:rPr>
                <a:t>25% شراكة خاصة (105 مليون دولار): </a:t>
              </a:r>
              <a:r>
                <a:rPr sz="1200" b="0" lang="ar-SA">
                  <a:solidFill>
                    <a:srgbClr val="E2E8F0"/>
                  </a:solidFill>
                  <a:latin typeface="Segoe UI"/>
                  <a:ea typeface="Segoe UI"/>
                  <a:cs typeface="Segoe UI"/>
                </a:rPr>
                <a:t>مطورو طاقة شمسية بعقود PPA. EIRR 21.4%.</a:t>
              </a: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731520" y="3291840"/>
            <a:ext cx="7052767" cy="1371600"/>
            <a:chOff x="731520" y="3291840"/>
            <a:chExt cx="7052767" cy="1371600"/>
          </a:xfrm>
        </p:grpSpPr>
        <p:sp>
          <p:nvSpPr>
            <p:cNvPr id="32" name="Rounded Rectangle 31"/>
            <p:cNvSpPr/>
            <p:nvPr/>
          </p:nvSpPr>
          <p:spPr>
            <a:xfrm>
              <a:off x="731520" y="3291840"/>
              <a:ext cx="7052767" cy="1371600"/>
            </a:xfrm>
            <a:prstGeom prst="roundRect">
              <a:avLst>
                <a:gd name="adj" fmla="val 13333"/>
              </a:avLst>
            </a:prstGeom>
            <a:solidFill>
              <a:srgbClr val="0F2240"/>
            </a:solidFill>
            <a:ln w="15875">
              <a:solidFill>
                <a:srgbClr val="10B98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7519111" y="3447288"/>
              <a:ext cx="64008" cy="256032"/>
            </a:xfrm>
            <a:prstGeom prst="roundRect">
              <a:avLst>
                <a:gd name="adj" fmla="val 50000"/>
              </a:avLst>
            </a:prstGeom>
            <a:solidFill>
              <a:srgbClr val="10B98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932688" y="3401568"/>
              <a:ext cx="6467551" cy="329184"/>
            </a:xfrm>
            <a:prstGeom prst="rect">
              <a:avLst/>
            </a:prstGeom>
            <a:noFill/>
          </p:spPr>
          <p:txBody>
            <a:bodyPr wrap="square" tIns="0" bIns="0" lIns="0" rIns="0" anchor="ctr">
              <a:spAutoFit/>
            </a:bodyPr>
            <a:lstStyle/>
            <a:p>
              <a:pPr rtl="1" algn="r">
                <a:lnSpc>
                  <a:spcPct val="112000"/>
                </a:lnSpc>
                <a:spcAft>
                  <a:spcPts val="0"/>
                </a:spcAft>
              </a:pPr>
              <a:r>
                <a:rPr sz="1500" b="1" lang="ar-SA">
                  <a:solidFill>
                    <a:srgbClr val="10B981"/>
                  </a:solidFill>
                  <a:latin typeface="Segoe UI"/>
                  <a:ea typeface="Segoe UI"/>
                  <a:cs typeface="Segoe UI"/>
                </a:rPr>
                <a:t>حالة الجاهزية الحالية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960120" y="3822191"/>
              <a:ext cx="6595567" cy="768096"/>
            </a:xfrm>
            <a:prstGeom prst="rect">
              <a:avLst/>
            </a:prstGeom>
            <a:noFill/>
          </p:spPr>
          <p:txBody>
            <a:bodyPr wrap="square" tIns="0" bIns="0" lIns="0" rIns="0" anchor="t">
              <a:spAutoFit/>
            </a:bodyPr>
            <a:lstStyle/>
            <a:p>
              <a:pPr rtl="1" algn="r" marL="201168" indent="-201168">
                <a:lnSpc>
                  <a:spcPct val="112000"/>
                </a:lnSpc>
                <a:spcAft>
                  <a:spcPts val="402"/>
                </a:spcAft>
                <a:buClr>
                  <a:srgbClr val="10B981"/>
                </a:buClr>
                <a:buFont typeface="Arial"/>
                <a:buChar char="•"/>
              </a:pPr>
              <a:r>
                <a:rPr sz="1150" b="1" lang="ar-SA">
                  <a:solidFill>
                    <a:srgbClr val="F0C860"/>
                  </a:solidFill>
                  <a:latin typeface="Segoe UI"/>
                  <a:ea typeface="Segoe UI"/>
                  <a:cs typeface="Segoe UI"/>
                </a:rPr>
                <a:t>سجل التنفيذ: </a:t>
              </a:r>
              <a:r>
                <a:rPr sz="1150" b="0" lang="ar-SA">
                  <a:solidFill>
                    <a:srgbClr val="E2E8F0"/>
                  </a:solidFill>
                  <a:latin typeface="Segoe UI"/>
                  <a:ea typeface="Segoe UI"/>
                  <a:cs typeface="Segoe UI"/>
                </a:rPr>
                <a:t>50 عاماً لهيئة الصرف و6 ملايين فدان منفذة وتقنيات TRL 8–9.</a:t>
              </a:r>
            </a:p>
            <a:p>
              <a:pPr rtl="1" algn="r" marL="201168" indent="-201168">
                <a:lnSpc>
                  <a:spcPct val="112000"/>
                </a:lnSpc>
                <a:spcAft>
                  <a:spcPts val="402"/>
                </a:spcAft>
                <a:buClr>
                  <a:srgbClr val="10B981"/>
                </a:buClr>
                <a:buFont typeface="Arial"/>
                <a:buChar char="•"/>
              </a:pPr>
              <a:r>
                <a:rPr sz="1150" b="1" lang="ar-SA">
                  <a:solidFill>
                    <a:srgbClr val="F0C860"/>
                  </a:solidFill>
                  <a:latin typeface="Segoe UI"/>
                  <a:ea typeface="Segoe UI"/>
                  <a:cs typeface="Segoe UI"/>
                </a:rPr>
                <a:t>حقل تجريبي جاهز: </a:t>
              </a:r>
              <a:r>
                <a:rPr sz="1150" b="0" lang="ar-SA">
                  <a:solidFill>
                    <a:srgbClr val="E2E8F0"/>
                  </a:solidFill>
                  <a:latin typeface="Segoe UI"/>
                  <a:ea typeface="Segoe UI"/>
                  <a:cs typeface="Segoe UI"/>
                </a:rPr>
                <a:t>وحدة 10 أفدنة على مجمع معزول للتحقق قبل التوسع.</a:t>
              </a:r>
            </a:p>
            <a:p>
              <a:pPr rtl="1" algn="r" marL="201168" indent="-201168">
                <a:lnSpc>
                  <a:spcPct val="112000"/>
                </a:lnSpc>
                <a:spcAft>
                  <a:spcPts val="402"/>
                </a:spcAft>
                <a:buClr>
                  <a:srgbClr val="10B981"/>
                </a:buClr>
                <a:buFont typeface="Arial"/>
                <a:buChar char="•"/>
              </a:pPr>
              <a:r>
                <a:rPr sz="1150" b="1" lang="ar-SA">
                  <a:solidFill>
                    <a:srgbClr val="F0C860"/>
                  </a:solidFill>
                  <a:latin typeface="Segoe UI"/>
                  <a:ea typeface="Segoe UI"/>
                  <a:cs typeface="Segoe UI"/>
                </a:rPr>
                <a:t>الخطوة التالية: </a:t>
              </a:r>
              <a:r>
                <a:rPr sz="1150" b="0" lang="ar-SA">
                  <a:solidFill>
                    <a:srgbClr val="E2E8F0"/>
                  </a:solidFill>
                  <a:latin typeface="Segoe UI"/>
                  <a:ea typeface="Segoe UI"/>
                  <a:cs typeface="Segoe UI"/>
                </a:rPr>
                <a:t>طلب منحة تحضيرية 1.5 مليون دولار من GCF/AfDB لدراسة كفر الشيخ.</a:t>
              </a: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731520" y="4754879"/>
            <a:ext cx="7052767" cy="1600200"/>
            <a:chOff x="731520" y="4754879"/>
            <a:chExt cx="7052767" cy="1600200"/>
          </a:xfrm>
        </p:grpSpPr>
        <p:sp>
          <p:nvSpPr>
            <p:cNvPr id="37" name="Rounded Rectangle 36"/>
            <p:cNvSpPr/>
            <p:nvPr/>
          </p:nvSpPr>
          <p:spPr>
            <a:xfrm>
              <a:off x="731520" y="4754879"/>
              <a:ext cx="7052767" cy="1600200"/>
            </a:xfrm>
            <a:prstGeom prst="roundRect">
              <a:avLst>
                <a:gd name="adj" fmla="val 11428"/>
              </a:avLst>
            </a:prstGeom>
            <a:solidFill>
              <a:srgbClr val="0F2240"/>
            </a:solidFill>
            <a:ln w="15875">
              <a:solidFill>
                <a:srgbClr val="F8FAF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Rounded Rectangle 37"/>
            <p:cNvSpPr/>
            <p:nvPr/>
          </p:nvSpPr>
          <p:spPr>
            <a:xfrm>
              <a:off x="7519111" y="4910327"/>
              <a:ext cx="64008" cy="256032"/>
            </a:xfrm>
            <a:prstGeom prst="roundRect">
              <a:avLst>
                <a:gd name="adj" fmla="val 50000"/>
              </a:avLst>
            </a:prstGeom>
            <a:solidFill>
              <a:srgbClr val="F8FA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932688" y="4864607"/>
              <a:ext cx="6467551" cy="329184"/>
            </a:xfrm>
            <a:prstGeom prst="rect">
              <a:avLst/>
            </a:prstGeom>
            <a:noFill/>
          </p:spPr>
          <p:txBody>
            <a:bodyPr wrap="square" tIns="0" bIns="0" lIns="0" rIns="0" anchor="ctr">
              <a:spAutoFit/>
            </a:bodyPr>
            <a:lstStyle/>
            <a:p>
              <a:pPr rtl="1" algn="r">
                <a:lnSpc>
                  <a:spcPct val="112000"/>
                </a:lnSpc>
                <a:spcAft>
                  <a:spcPts val="0"/>
                </a:spcAft>
              </a:pPr>
              <a:r>
                <a:rPr sz="1500" b="1" lang="ar-SA">
                  <a:solidFill>
                    <a:srgbClr val="F8FAFC"/>
                  </a:solidFill>
                  <a:latin typeface="Segoe UI"/>
                  <a:ea typeface="Segoe UI"/>
                  <a:cs typeface="Segoe UI"/>
                </a:rPr>
                <a:t>النتائج المتوقعة (KPIs) ومسار التوسع</a:t>
              </a:r>
            </a:p>
          </p:txBody>
        </p:sp>
        <p:sp>
          <p:nvSpPr>
            <p:cNvPr id="40" name="Rounded Rectangle 39"/>
            <p:cNvSpPr/>
            <p:nvPr/>
          </p:nvSpPr>
          <p:spPr>
            <a:xfrm>
              <a:off x="5975375" y="5285231"/>
              <a:ext cx="1580311" cy="566928"/>
            </a:xfrm>
            <a:prstGeom prst="roundRect">
              <a:avLst>
                <a:gd name="adj" fmla="val 22580"/>
              </a:avLst>
            </a:prstGeom>
            <a:solidFill>
              <a:srgbClr val="183158"/>
            </a:solidFill>
            <a:ln w="12700">
              <a:solidFill>
                <a:srgbClr val="15B5A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5975375" y="5303519"/>
              <a:ext cx="1580311" cy="530352"/>
            </a:xfrm>
            <a:prstGeom prst="rect">
              <a:avLst/>
            </a:prstGeom>
            <a:noFill/>
          </p:spPr>
          <p:txBody>
            <a:bodyPr wrap="square" tIns="0" bIns="0" lIns="0" rIns="0" anchor="ctr">
              <a:spAutoFit/>
            </a:bodyPr>
            <a:lstStyle/>
            <a:p>
              <a:pPr rtl="1" algn="ctr">
                <a:lnSpc>
                  <a:spcPct val="112000"/>
                </a:lnSpc>
                <a:spcAft>
                  <a:spcPts val="0"/>
                </a:spcAft>
              </a:pPr>
              <a:r>
                <a:rPr sz="1600" b="1" lang="ar-SA">
                  <a:solidFill>
                    <a:srgbClr val="F0C860"/>
                  </a:solidFill>
                  <a:latin typeface="Segoe UI"/>
                  <a:ea typeface="Segoe UI"/>
                  <a:cs typeface="Segoe UI"/>
                </a:rPr>
                <a:t>150 مليون م³</a:t>
              </a:r>
            </a:p>
            <a:p>
              <a:pPr rtl="1" algn="ctr">
                <a:lnSpc>
                  <a:spcPct val="112000"/>
                </a:lnSpc>
                <a:spcAft>
                  <a:spcPts val="0"/>
                </a:spcAft>
              </a:pPr>
              <a:r>
                <a:rPr sz="1050" b="0" lang="ar-SA">
                  <a:solidFill>
                    <a:srgbClr val="E2E8F0"/>
                  </a:solidFill>
                  <a:latin typeface="Segoe UI"/>
                  <a:ea typeface="Segoe UI"/>
                  <a:cs typeface="Segoe UI"/>
                </a:rPr>
                <a:t>وفر مائي سنوياً</a:t>
              </a:r>
            </a:p>
          </p:txBody>
        </p:sp>
        <p:sp>
          <p:nvSpPr>
            <p:cNvPr id="42" name="Rounded Rectangle 41"/>
            <p:cNvSpPr/>
            <p:nvPr/>
          </p:nvSpPr>
          <p:spPr>
            <a:xfrm>
              <a:off x="4303623" y="5285231"/>
              <a:ext cx="1580311" cy="566928"/>
            </a:xfrm>
            <a:prstGeom prst="roundRect">
              <a:avLst>
                <a:gd name="adj" fmla="val 22580"/>
              </a:avLst>
            </a:prstGeom>
            <a:solidFill>
              <a:srgbClr val="183158"/>
            </a:solidFill>
            <a:ln w="12700">
              <a:solidFill>
                <a:srgbClr val="15B5A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4303623" y="5303519"/>
              <a:ext cx="1580311" cy="530352"/>
            </a:xfrm>
            <a:prstGeom prst="rect">
              <a:avLst/>
            </a:prstGeom>
            <a:noFill/>
          </p:spPr>
          <p:txBody>
            <a:bodyPr wrap="square" tIns="0" bIns="0" lIns="0" rIns="0" anchor="ctr">
              <a:spAutoFit/>
            </a:bodyPr>
            <a:lstStyle/>
            <a:p>
              <a:pPr rtl="1" algn="ctr">
                <a:lnSpc>
                  <a:spcPct val="112000"/>
                </a:lnSpc>
                <a:spcAft>
                  <a:spcPts val="0"/>
                </a:spcAft>
              </a:pPr>
              <a:r>
                <a:rPr sz="1600" b="1" lang="ar-SA">
                  <a:solidFill>
                    <a:srgbClr val="F0C860"/>
                  </a:solidFill>
                  <a:latin typeface="Segoe UI"/>
                  <a:ea typeface="Segoe UI"/>
                  <a:cs typeface="Segoe UI"/>
                </a:rPr>
                <a:t>15–25%</a:t>
              </a:r>
            </a:p>
            <a:p>
              <a:pPr rtl="1" algn="ctr">
                <a:lnSpc>
                  <a:spcPct val="112000"/>
                </a:lnSpc>
                <a:spcAft>
                  <a:spcPts val="0"/>
                </a:spcAft>
              </a:pPr>
              <a:r>
                <a:rPr sz="1050" b="0" lang="ar-SA">
                  <a:solidFill>
                    <a:srgbClr val="E2E8F0"/>
                  </a:solidFill>
                  <a:latin typeface="Segoe UI"/>
                  <a:ea typeface="Segoe UI"/>
                  <a:cs typeface="Segoe UI"/>
                </a:rPr>
                <a:t>زيادة الإنتاجية</a:t>
              </a:r>
            </a:p>
          </p:txBody>
        </p:sp>
        <p:sp>
          <p:nvSpPr>
            <p:cNvPr id="44" name="Rounded Rectangle 43"/>
            <p:cNvSpPr/>
            <p:nvPr/>
          </p:nvSpPr>
          <p:spPr>
            <a:xfrm>
              <a:off x="2631871" y="5285231"/>
              <a:ext cx="1580311" cy="566928"/>
            </a:xfrm>
            <a:prstGeom prst="roundRect">
              <a:avLst>
                <a:gd name="adj" fmla="val 22580"/>
              </a:avLst>
            </a:prstGeom>
            <a:solidFill>
              <a:srgbClr val="183158"/>
            </a:solidFill>
            <a:ln w="12700">
              <a:solidFill>
                <a:srgbClr val="15B5A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2631871" y="5303519"/>
              <a:ext cx="1580311" cy="530352"/>
            </a:xfrm>
            <a:prstGeom prst="rect">
              <a:avLst/>
            </a:prstGeom>
            <a:noFill/>
          </p:spPr>
          <p:txBody>
            <a:bodyPr wrap="square" tIns="0" bIns="0" lIns="0" rIns="0" anchor="ctr">
              <a:spAutoFit/>
            </a:bodyPr>
            <a:lstStyle/>
            <a:p>
              <a:pPr rtl="1" algn="ctr">
                <a:lnSpc>
                  <a:spcPct val="112000"/>
                </a:lnSpc>
                <a:spcAft>
                  <a:spcPts val="0"/>
                </a:spcAft>
              </a:pPr>
              <a:r>
                <a:rPr sz="1600" b="1" lang="ar-SA">
                  <a:solidFill>
                    <a:srgbClr val="F0C860"/>
                  </a:solidFill>
                  <a:latin typeface="Segoe UI"/>
                  <a:ea typeface="Segoe UI"/>
                  <a:cs typeface="Segoe UI"/>
                </a:rPr>
                <a:t>90 GWh</a:t>
              </a:r>
            </a:p>
            <a:p>
              <a:pPr rtl="1" algn="ctr">
                <a:lnSpc>
                  <a:spcPct val="112000"/>
                </a:lnSpc>
                <a:spcAft>
                  <a:spcPts val="0"/>
                </a:spcAft>
              </a:pPr>
              <a:r>
                <a:rPr sz="1050" b="0" lang="ar-SA">
                  <a:solidFill>
                    <a:srgbClr val="E2E8F0"/>
                  </a:solidFill>
                  <a:latin typeface="Segoe UI"/>
                  <a:ea typeface="Segoe UI"/>
                  <a:cs typeface="Segoe UI"/>
                </a:rPr>
                <a:t>طاقة نظيفة سنوياً</a:t>
              </a:r>
            </a:p>
          </p:txBody>
        </p:sp>
        <p:sp>
          <p:nvSpPr>
            <p:cNvPr id="46" name="Rounded Rectangle 45"/>
            <p:cNvSpPr/>
            <p:nvPr/>
          </p:nvSpPr>
          <p:spPr>
            <a:xfrm>
              <a:off x="960120" y="5285231"/>
              <a:ext cx="1580311" cy="566928"/>
            </a:xfrm>
            <a:prstGeom prst="roundRect">
              <a:avLst>
                <a:gd name="adj" fmla="val 22580"/>
              </a:avLst>
            </a:prstGeom>
            <a:solidFill>
              <a:srgbClr val="183158"/>
            </a:solidFill>
            <a:ln w="12700">
              <a:solidFill>
                <a:srgbClr val="15B5A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960120" y="5303519"/>
              <a:ext cx="1580311" cy="530352"/>
            </a:xfrm>
            <a:prstGeom prst="rect">
              <a:avLst/>
            </a:prstGeom>
            <a:noFill/>
          </p:spPr>
          <p:txBody>
            <a:bodyPr wrap="square" tIns="0" bIns="0" lIns="0" rIns="0" anchor="ctr">
              <a:spAutoFit/>
            </a:bodyPr>
            <a:lstStyle/>
            <a:p>
              <a:pPr rtl="1" algn="ctr">
                <a:lnSpc>
                  <a:spcPct val="112000"/>
                </a:lnSpc>
                <a:spcAft>
                  <a:spcPts val="0"/>
                </a:spcAft>
              </a:pPr>
              <a:r>
                <a:rPr sz="1600" b="1" lang="ar-SA">
                  <a:solidFill>
                    <a:srgbClr val="F0C860"/>
                  </a:solidFill>
                  <a:latin typeface="Segoe UI"/>
                  <a:ea typeface="Segoe UI"/>
                  <a:cs typeface="Segoe UI"/>
                </a:rPr>
                <a:t>80%</a:t>
              </a:r>
            </a:p>
            <a:p>
              <a:pPr rtl="1" algn="ctr">
                <a:lnSpc>
                  <a:spcPct val="112000"/>
                </a:lnSpc>
                <a:spcAft>
                  <a:spcPts val="0"/>
                </a:spcAft>
              </a:pPr>
              <a:r>
                <a:rPr sz="1050" b="0" lang="ar-SA">
                  <a:solidFill>
                    <a:srgbClr val="E2E8F0"/>
                  </a:solidFill>
                  <a:latin typeface="Segoe UI"/>
                  <a:ea typeface="Segoe UI"/>
                  <a:cs typeface="Segoe UI"/>
                </a:rPr>
                <a:t>انخفاض التعديات</a:t>
              </a:r>
            </a:p>
          </p:txBody>
        </p:sp>
        <p:sp>
          <p:nvSpPr>
            <p:cNvPr id="48" name="Rounded Rectangle 47"/>
            <p:cNvSpPr/>
            <p:nvPr/>
          </p:nvSpPr>
          <p:spPr>
            <a:xfrm>
              <a:off x="5418124" y="5943599"/>
              <a:ext cx="2137562" cy="310896"/>
            </a:xfrm>
            <a:prstGeom prst="roundRect">
              <a:avLst>
                <a:gd name="adj" fmla="val 50000"/>
              </a:avLst>
            </a:prstGeom>
            <a:solidFill>
              <a:srgbClr val="15B5A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tIns="0" bIns="0" lIns="54864" rIns="54864"/>
            <a:lstStyle/>
            <a:p>
              <a:pPr algn="ctr" rtl="1">
                <a:lnSpc>
                  <a:spcPct val="112000"/>
                </a:lnSpc>
                <a:spcAft>
                  <a:spcPts val="0"/>
                </a:spcAft>
              </a:pPr>
              <a:r>
                <a:rPr sz="1100" b="1" lang="ar-SA">
                  <a:solidFill>
                    <a:srgbClr val="0A1628"/>
                  </a:solidFill>
                  <a:latin typeface="Segoe UI"/>
                  <a:ea typeface="Segoe UI"/>
                  <a:cs typeface="Segoe UI"/>
                </a:rPr>
                <a:t>1 · تجريبي 10 أفدنة (سنة 1)</a:t>
              </a:r>
            </a:p>
          </p:txBody>
        </p:sp>
        <p:sp>
          <p:nvSpPr>
            <p:cNvPr id="49" name="Rounded Rectangle 48"/>
            <p:cNvSpPr/>
            <p:nvPr/>
          </p:nvSpPr>
          <p:spPr>
            <a:xfrm>
              <a:off x="3189122" y="5943599"/>
              <a:ext cx="2137562" cy="310896"/>
            </a:xfrm>
            <a:prstGeom prst="roundRect">
              <a:avLst>
                <a:gd name="adj" fmla="val 50000"/>
              </a:avLst>
            </a:prstGeom>
            <a:solidFill>
              <a:srgbClr val="10B98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tIns="0" bIns="0" lIns="54864" rIns="54864"/>
            <a:lstStyle/>
            <a:p>
              <a:pPr algn="ctr" rtl="1">
                <a:lnSpc>
                  <a:spcPct val="112000"/>
                </a:lnSpc>
                <a:spcAft>
                  <a:spcPts val="0"/>
                </a:spcAft>
              </a:pPr>
              <a:r>
                <a:rPr sz="1100" b="1" lang="ar-SA">
                  <a:solidFill>
                    <a:srgbClr val="0A1628"/>
                  </a:solidFill>
                  <a:latin typeface="Segoe UI"/>
                  <a:ea typeface="Segoe UI"/>
                  <a:cs typeface="Segoe UI"/>
                </a:rPr>
                <a:t>2 · ريادي 100 ألف فدان (2–5)</a:t>
              </a:r>
            </a:p>
          </p:txBody>
        </p:sp>
        <p:sp>
          <p:nvSpPr>
            <p:cNvPr id="50" name="Rounded Rectangle 49"/>
            <p:cNvSpPr/>
            <p:nvPr/>
          </p:nvSpPr>
          <p:spPr>
            <a:xfrm>
              <a:off x="960119" y="5943599"/>
              <a:ext cx="2137562" cy="310896"/>
            </a:xfrm>
            <a:prstGeom prst="roundRect">
              <a:avLst>
                <a:gd name="adj" fmla="val 50000"/>
              </a:avLst>
            </a:prstGeom>
            <a:solidFill>
              <a:srgbClr val="F0C86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tIns="0" bIns="0" lIns="54864" rIns="54864"/>
            <a:lstStyle/>
            <a:p>
              <a:pPr algn="ctr" rtl="1">
                <a:lnSpc>
                  <a:spcPct val="112000"/>
                </a:lnSpc>
                <a:spcAft>
                  <a:spcPts val="0"/>
                </a:spcAft>
              </a:pPr>
              <a:r>
                <a:rPr sz="1100" b="1" lang="ar-SA">
                  <a:solidFill>
                    <a:srgbClr val="0A1628"/>
                  </a:solidFill>
                  <a:latin typeface="Segoe UI"/>
                  <a:ea typeface="Segoe UI"/>
                  <a:cs typeface="Segoe UI"/>
                </a:rPr>
                <a:t>3 · تعميم 4.3 مليون فدان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