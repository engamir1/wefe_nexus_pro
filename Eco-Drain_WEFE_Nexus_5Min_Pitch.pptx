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00:00-01:40  المشكلة: نصيب الفرد 560 م³، و2.3 مليون فدان تجاوزت عمرها التصميمي، و25-40% من الأعطال بسبب التلاعب. الحل: غرف مدفونة بـ RFID وGPS وإنذار اهتزاز. القيادة: وزارة الري وهيئة الصرف مع الشركاء.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01:40-03:30  أربعة تدخلات WEFE: توفير 150 مليون م³، 50 MW شمسية، زيادة الإنتاجية 15-25%، و20 أرضاً رطبة. التقييم المركب 92/100. الجدوى البنكية: تشغيل ذاتي التمويل وتكلفة متجنبة وتنوع الإيرادات وعدم التهجير.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03:30-05:00  تمويل مختلط 420 مليون دولار (15/20/40/25). ملاءمة GCF 14/14 وصندوق التكيف 13/14. الجاهزية: حقل 10 أفدنة وTRL 8-9 وطلب PPF. التوسع: 10 أفدنة ثم 100 ألف فدان ثم 4.3 مليون فدان بالدلتا ثم العراق والأردن وباكستان.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1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إيكو-درين: صرف مغطى ذكي غير مرئي ومقاوم للتلاعب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تجديد مرن مناخياً لـ 100,000 فدان في دلتا النيل بمصر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1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2103120"/>
            <a:chOff x="7894015" y="1554480"/>
            <a:chExt cx="3566160" cy="210312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2103120"/>
            </a:xfrm>
            <a:prstGeom prst="roundRect">
              <a:avLst>
                <a:gd name="adj" fmla="val 8695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1_subsurface_drain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9855" y="1691639"/>
              <a:ext cx="1554479" cy="1554479"/>
            </a:xfrm>
            <a:prstGeom prst="roundRect">
              <a:avLst>
                <a:gd name="adj" fmla="val 8235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33284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تصور تجديد شبكات الصرف المغطى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3749039"/>
            <a:ext cx="3566160" cy="822960"/>
            <a:chOff x="7894015" y="3749039"/>
            <a:chExt cx="3566160" cy="822960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3749039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97135" y="3749039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560 م³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31175" y="3794759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نصيب الفرد من المياه سنوياً، أقل من خط الفقر المائي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894015" y="4636007"/>
            <a:ext cx="3566160" cy="822960"/>
            <a:chOff x="7894015" y="4636007"/>
            <a:chExt cx="3566160" cy="822960"/>
          </a:xfrm>
        </p:grpSpPr>
        <p:sp>
          <p:nvSpPr>
            <p:cNvPr id="21" name="Rounded Rectangle 20"/>
            <p:cNvSpPr/>
            <p:nvPr/>
          </p:nvSpPr>
          <p:spPr>
            <a:xfrm>
              <a:off x="7894015" y="4636007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997135" y="4636007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2.3 مليون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31175" y="4681727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فدان من شبكات الصرف تجاوزت عمرها التصميمي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894015" y="5522975"/>
            <a:ext cx="3566160" cy="822960"/>
            <a:chOff x="7894015" y="5522975"/>
            <a:chExt cx="3566160" cy="822960"/>
          </a:xfrm>
        </p:grpSpPr>
        <p:sp>
          <p:nvSpPr>
            <p:cNvPr id="25" name="Rounded Rectangle 24"/>
            <p:cNvSpPr/>
            <p:nvPr/>
          </p:nvSpPr>
          <p:spPr>
            <a:xfrm>
              <a:off x="7894015" y="5522975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997135" y="5522975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25–40%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031175" y="5568695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من أعطال الصرف سببها التلاعب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731520" y="1554480"/>
            <a:ext cx="7052767" cy="2514600"/>
            <a:chOff x="731520" y="1554480"/>
            <a:chExt cx="7052767" cy="2514600"/>
          </a:xfrm>
        </p:grpSpPr>
        <p:sp>
          <p:nvSpPr>
            <p:cNvPr id="29" name="Rounded Rectangle 28"/>
            <p:cNvSpPr/>
            <p:nvPr/>
          </p:nvSpPr>
          <p:spPr>
            <a:xfrm>
              <a:off x="731520" y="1554480"/>
              <a:ext cx="7052767" cy="2514600"/>
            </a:xfrm>
            <a:prstGeom prst="roundRect">
              <a:avLst>
                <a:gd name="adj" fmla="val 7272"/>
              </a:avLst>
            </a:prstGeom>
            <a:solidFill>
              <a:srgbClr val="0F2240"/>
            </a:solidFill>
            <a:ln w="15875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717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32688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المشكلة والحل غير المرئي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60120" y="2103120"/>
              <a:ext cx="6595567" cy="18928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تقادم الشبكات: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الصرف بالدلتا تجاوز عمره التصميمي (20–25 سنة) مسبباً التغدق والتملح وفقد 10–30% من المحاصيل.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أعطال خفية: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المواسير مدفونة ولا يمكن فحصها، فتبقى الأعطال مجهولة لسنوات.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التلاعب: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سد المزارعين للمناهل السطحية لحبس مياه الأرز يتسبب في 25–40% من الأعطال.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حل إيكو-درين: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غرف مدفونة على عمق 30–50 سم، مؤمنة بـ RFID وGPS، وحساسات اهتزاز (&gt;2.5g) ترسل إنذاراً مشفراً عبر NB-IoT.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731520" y="4160520"/>
            <a:ext cx="7052767" cy="2286000"/>
            <a:chOff x="731520" y="4160520"/>
            <a:chExt cx="7052767" cy="2286000"/>
          </a:xfrm>
        </p:grpSpPr>
        <p:sp>
          <p:nvSpPr>
            <p:cNvPr id="34" name="Rounded Rectangle 33"/>
            <p:cNvSpPr/>
            <p:nvPr/>
          </p:nvSpPr>
          <p:spPr>
            <a:xfrm>
              <a:off x="731520" y="4160520"/>
              <a:ext cx="7052767" cy="2286000"/>
            </a:xfrm>
            <a:prstGeom prst="roundRect">
              <a:avLst>
                <a:gd name="adj" fmla="val 8000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519111" y="431596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32688" y="427024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الجهة القائدة والشركاء والحوكمة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60120" y="4709159"/>
              <a:ext cx="6595567" cy="16642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الجهة القائدة: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وزارة الموارد المائية والري (MWRI) عبر هيئة الصرف (EPADP) — المكتب الفني للوجه البحري.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الشركاء: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معهد بحوث الصرف (التحقق وMRV)، وزارة الزراعة، هيئة الطاقة المتجددة وجهاز تنظيم الكهرباء (50 MW)، روابط مستخدمي المياه.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الحوكمة: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لجنة توجيهية بين الوزارات، وحدة تنفيذ مخصصة (PIU) بهيئة الصرف، ومنصات محلية في كفر الشيخ والدقهلية.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التوافق: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منظومة الري 2.0، ورؤية مصر 2030، واستراتيجية المناخ 2050.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2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تدخلات WEFE المتكاملة والجدوى البنكية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أربعة تدخلات مترابطة ودرجة فرز رسمية وبطاقة قياس للمرونة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3108960"/>
            <a:chOff x="7894015" y="1554480"/>
            <a:chExt cx="3566160" cy="310896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3108960"/>
            </a:xfrm>
            <a:prstGeom prst="roundRect">
              <a:avLst>
                <a:gd name="adj" fmla="val 5882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2_wefe_nexu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96935" y="1691639"/>
              <a:ext cx="2560320" cy="2560320"/>
            </a:xfrm>
            <a:prstGeom prst="roundRect">
              <a:avLst>
                <a:gd name="adj" fmla="val 5000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4334255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ترابط المياه والطاقة والغذاء والنظم البيئية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4754880"/>
            <a:ext cx="3566160" cy="1691639"/>
            <a:chOff x="7894015" y="4754880"/>
            <a:chExt cx="3566160" cy="1691639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4754880"/>
              <a:ext cx="3566160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194999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95183" y="486460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فرز WEFE ومرونة المشروع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31375" y="5285232"/>
              <a:ext cx="1600200" cy="54864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3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92/100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22615" y="5394960"/>
              <a:ext cx="1463040" cy="329184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المرونة: عالية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22615" y="5897880"/>
              <a:ext cx="3108960" cy="502919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المياه 10 · الطاقة 8 · الغذاء 10 · النظم البيئية 8 · الرقمنة 9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312767" y="1554480"/>
            <a:ext cx="3471519" cy="1508760"/>
            <a:chOff x="4312767" y="1554480"/>
            <a:chExt cx="3471519" cy="1508760"/>
          </a:xfrm>
        </p:grpSpPr>
        <p:sp>
          <p:nvSpPr>
            <p:cNvPr id="24" name="Rounded Rectangle 23"/>
            <p:cNvSpPr/>
            <p:nvPr/>
          </p:nvSpPr>
          <p:spPr>
            <a:xfrm>
              <a:off x="4312767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13935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60A5FA"/>
                  </a:solidFill>
                  <a:latin typeface="Segoe UI"/>
                  <a:ea typeface="Segoe UI"/>
                  <a:cs typeface="Segoe UI"/>
                </a:rPr>
                <a:t>المياه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41367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توفير 150 مليون م³ سنوياً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41367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مواسير HDPE وفلاتر جيوتكستيل مع صمامات ذكية تستفيد من الصعود الشعري: توفير 25–30% من مياه الري.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31520" y="1554480"/>
            <a:ext cx="3471519" cy="1508760"/>
            <a:chOff x="731520" y="1554480"/>
            <a:chExt cx="3471519" cy="1508760"/>
          </a:xfrm>
        </p:grpSpPr>
        <p:sp>
          <p:nvSpPr>
            <p:cNvPr id="30" name="Rounded Rectangle 29"/>
            <p:cNvSpPr/>
            <p:nvPr/>
          </p:nvSpPr>
          <p:spPr>
            <a:xfrm>
              <a:off x="731520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937863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32688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الطاقة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60120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50 ميجاوات · 90 جيجاواط ساعة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0120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طاقة شمسية موزعة على 25 محطة رفع تخفض فاتورة الضخ 40% وتصدّر الفائض بنظام صافي القياس.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4312767" y="3154680"/>
            <a:ext cx="3471519" cy="1508760"/>
            <a:chOff x="4312767" y="3154680"/>
            <a:chExt cx="3471519" cy="1508760"/>
          </a:xfrm>
        </p:grpSpPr>
        <p:sp>
          <p:nvSpPr>
            <p:cNvPr id="36" name="Rounded Rectangle 35"/>
            <p:cNvSpPr/>
            <p:nvPr/>
          </p:nvSpPr>
          <p:spPr>
            <a:xfrm>
              <a:off x="4312767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519111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513935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الغذاء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541367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زيادة الإنتاجية 15–25%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541367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استعادة غلة القمح والأرز والذرة لـ 200,000 مزارع مع غسيل آلي عند ارتفاع الملوحة.</a:t>
              </a: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731520" y="3154680"/>
            <a:ext cx="3471519" cy="1508760"/>
            <a:chOff x="731520" y="3154680"/>
            <a:chExt cx="3471519" cy="1508760"/>
          </a:xfrm>
        </p:grpSpPr>
        <p:sp>
          <p:nvSpPr>
            <p:cNvPr id="42" name="Rounded Rectangle 41"/>
            <p:cNvSpPr/>
            <p:nvPr/>
          </p:nvSpPr>
          <p:spPr>
            <a:xfrm>
              <a:off x="731520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937863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32688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النظم البيئية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60120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100 ألف طن CO₂ · 4,760 فدان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0120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20 أرضاً رطبة تعالج 200 مليون م³ سنوياً وتحمي بحيرات الدلتا (كربون أزرق Verra).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731520" y="4754880"/>
            <a:ext cx="7052767" cy="1691639"/>
            <a:chOff x="731520" y="4754880"/>
            <a:chExt cx="7052767" cy="1691639"/>
          </a:xfrm>
        </p:grpSpPr>
        <p:sp>
          <p:nvSpPr>
            <p:cNvPr id="48" name="Rounded Rectangle 47"/>
            <p:cNvSpPr/>
            <p:nvPr/>
          </p:nvSpPr>
          <p:spPr>
            <a:xfrm>
              <a:off x="731520" y="4754880"/>
              <a:ext cx="7052767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519111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32688" y="486460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كيف يعزز تكامل WEFE الجدوى البنكية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60120" y="5303520"/>
              <a:ext cx="6595567" cy="106984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تشغيل ذاتي التمويل: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الطاقة الشمسية تسدد كهرباء الطلمبات وتحمي نسبة خدمة الدين 1.35x.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تكلفة متجنبة وإيرادات: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توفير 150 مليون م³ ≈ 52.5 مليون دولار سنوياً، واسترداد خلال 0.48 سنة، وإيرادات طاقة وتصدير ومياه وكربون.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بلا تهجير: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تطوير موضعي دون إعادة توطين أو نزاعات مجتمعية.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3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هيكل التمويل والجاهزية والنتائج المتوقعة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تمويل مختلط بقيمة 420 مليون دولار وحقل تجريبي جاهز ومسار توسع من ثلاث مراحل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3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2331720"/>
            <a:chOff x="7894015" y="1554480"/>
            <a:chExt cx="3566160" cy="233172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2331720"/>
            </a:xfrm>
            <a:prstGeom prst="roundRect">
              <a:avLst>
                <a:gd name="adj" fmla="val 7843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5_capital_stack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85555" y="1691639"/>
              <a:ext cx="1783080" cy="1783080"/>
            </a:xfrm>
            <a:prstGeom prst="roundRect">
              <a:avLst>
                <a:gd name="adj" fmla="val 7179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35570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هيكل رأس المال المختلط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3977639"/>
            <a:ext cx="3566160" cy="2468880"/>
            <a:chOff x="7894015" y="3977639"/>
            <a:chExt cx="3566160" cy="2468880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3977639"/>
              <a:ext cx="3566160" cy="2468880"/>
            </a:xfrm>
            <a:prstGeom prst="roundRect">
              <a:avLst>
                <a:gd name="adj" fmla="val 7407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194999" y="413308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95183" y="408736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ملاءمة جهات التمويل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390327" y="4562855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14/14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76895" y="4526279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صندوق المناخ الأخضر (GCF)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تكيف تحويلي ورقمنة MRV. القرار: المضي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390327" y="5184647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13/14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76895" y="5148071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صندوق التكيف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مثالي لتمويل الحقل التجريبي. القرار: المضي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390327" y="5806440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مرتفعة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76895" y="5769864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PRIMA وبوابة الاتحاد الأوروبي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ابتكار مائي زراعي وتعاون متوسطي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731520" y="1554480"/>
            <a:ext cx="7052767" cy="1645920"/>
            <a:chOff x="731520" y="1554480"/>
            <a:chExt cx="7052767" cy="1645920"/>
          </a:xfrm>
        </p:grpSpPr>
        <p:sp>
          <p:nvSpPr>
            <p:cNvPr id="27" name="Rounded Rectangle 26"/>
            <p:cNvSpPr/>
            <p:nvPr/>
          </p:nvSpPr>
          <p:spPr>
            <a:xfrm>
              <a:off x="731520" y="1554480"/>
              <a:ext cx="7052767" cy="1645920"/>
            </a:xfrm>
            <a:prstGeom prst="roundRect">
              <a:avLst>
                <a:gd name="adj" fmla="val 1111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32688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الميزانية: 420 مليون دولار (4,200 دولار للفدان)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60120" y="2084831"/>
              <a:ext cx="6595567" cy="104241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15% منح (63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GCF وAfDB والاتحاد الأوروبي للتجريبي والتوأم الرقمي.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20% مساهمة حكومية (84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أراضٍ ومحطات رفع وكوادر هيئة الصرف.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40% قروض ميسرة (168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البنك الدولي وAfDB لمدة 20–25 سنة.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25% شراكة خاصة (105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مطورو طاقة شمسية بعقود PPA. EIRR 21.4%.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731520" y="3291840"/>
            <a:ext cx="7052767" cy="1371600"/>
            <a:chOff x="731520" y="3291840"/>
            <a:chExt cx="7052767" cy="1371600"/>
          </a:xfrm>
        </p:grpSpPr>
        <p:sp>
          <p:nvSpPr>
            <p:cNvPr id="32" name="Rounded Rectangle 31"/>
            <p:cNvSpPr/>
            <p:nvPr/>
          </p:nvSpPr>
          <p:spPr>
            <a:xfrm>
              <a:off x="731520" y="3291840"/>
              <a:ext cx="7052767" cy="1371600"/>
            </a:xfrm>
            <a:prstGeom prst="roundRect">
              <a:avLst>
                <a:gd name="adj" fmla="val 13333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519111" y="344728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32688" y="340156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حالة الجاهزية الحالية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120" y="3822191"/>
              <a:ext cx="6595567" cy="76809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سجل التنفيذ: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50 عاماً لهيئة الصرف و6 ملايين فدان منفذة وتقنيات TRL 8–9.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حقل تجريبي جاهز: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وحدة 10 أفدنة على مجمع معزول للتحقق قبل التوسع.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الخطوة التالية: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طلب منحة تحضيرية 1.5 مليون دولار من GCF/AfDB لدراسة كفر الشيخ.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731520" y="4754879"/>
            <a:ext cx="7052767" cy="1600200"/>
            <a:chOff x="731520" y="4754879"/>
            <a:chExt cx="7052767" cy="1600200"/>
          </a:xfrm>
        </p:grpSpPr>
        <p:sp>
          <p:nvSpPr>
            <p:cNvPr id="37" name="Rounded Rectangle 36"/>
            <p:cNvSpPr/>
            <p:nvPr/>
          </p:nvSpPr>
          <p:spPr>
            <a:xfrm>
              <a:off x="731520" y="4754879"/>
              <a:ext cx="7052767" cy="1600200"/>
            </a:xfrm>
            <a:prstGeom prst="roundRect">
              <a:avLst>
                <a:gd name="adj" fmla="val 11428"/>
              </a:avLst>
            </a:prstGeom>
            <a:solidFill>
              <a:srgbClr val="0F2240"/>
            </a:solidFill>
            <a:ln w="15875">
              <a:solidFill>
                <a:srgbClr val="F8FAF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7519111" y="491032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32688" y="48646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النتائج المتوقعة (KPIs) ومسار التوسع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975375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75375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150 مليون م³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وفر مائي سنوياً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4303623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303623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15–25%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زيادة الإنتاجية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631871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631871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90 GWh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طاقة نظيفة سنوياً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60120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60120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80%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انخفاض التعديات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5418124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 · تجريبي 10 أفدنة (سنة 1)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3189122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2 · ريادي 100 ألف فدان (2–5)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960119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3 · تعميم 4.3 مليون فدان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