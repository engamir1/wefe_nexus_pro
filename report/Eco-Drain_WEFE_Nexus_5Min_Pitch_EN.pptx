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"/>
            <a:ext cx="10728655" cy="36576"/>
          </a:xfrm>
          <a:prstGeom prst="roundRect">
            <a:avLst>
              <a:gd name="adj" fmla="val 50000"/>
            </a:avLst>
          </a:prstGeom>
          <a:solidFill>
            <a:srgbClr val="15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846320" cy="292608"/>
          </a:xfrm>
          <a:prstGeom prst="roundRect">
            <a:avLst>
              <a:gd name="adj" fmla="val 50000"/>
            </a:avLst>
          </a:prstGeom>
          <a:solidFill>
            <a:srgbClr val="162D52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50" b="1">
                <a:solidFill>
                  <a:srgbClr val="15B5A4"/>
                </a:solidFill>
                <a:latin typeface="Segoe UI"/>
              </a:defRPr>
            </a:pPr>
            <a:r>
              <a:t>SLIDE 1 OF 3 | 5-MIN EXECUTIVE PITCH | CLIMATE RESILIENT WEFE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8046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15000"/>
              </a:lnSpc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Eco-Drain: Invisible Tamper-Proof Subsurface Drainage Retrofitting</a:t>
            </a:r>
          </a:p>
          <a:p>
            <a:pPr algn="l">
              <a:lnSpc>
                <a:spcPct val="120000"/>
              </a:lnSpc>
              <a:defRPr sz="1200">
                <a:solidFill>
                  <a:srgbClr val="F0C860"/>
                </a:solidFill>
                <a:latin typeface="Segoe UI"/>
              </a:defRPr>
            </a:pPr>
            <a:r>
              <a:t>1. Problem Statement &amp; Tampering Challenge | 3. Lead Institution, Partners &amp; Governance Arrangements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5212080" cy="237744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EF4444"/>
                </a:solidFill>
                <a:latin typeface="Segoe UI"/>
              </a:defRPr>
            </a:pPr>
            <a:r>
              <a:t>🚨 1. National Problem Statement &amp; Delta Water Crisis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75104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⚠️ 560 m³/capita Scarcity | 2.3 Million Feddans Expired Life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4809744" cy="14813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Critical Water Scarcity: </a:t>
            </a:r>
            <a:r>
              <a:rPr sz="1150">
                <a:solidFill>
                  <a:srgbClr val="F8FAFC"/>
                </a:solidFill>
                <a:latin typeface="Segoe UI"/>
              </a:rPr>
              <a:t>Egypt's quota is 55.5 BCM for 106M+ people -&gt; 560 m³/capita (below 1,000 m³ global water poverty line).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2.3 Million Feddans Expired: </a:t>
            </a:r>
            <a:r>
              <a:rPr sz="1150">
                <a:solidFill>
                  <a:srgbClr val="F8FAFC"/>
                </a:solidFill>
                <a:latin typeface="Segoe UI"/>
              </a:rPr>
              <a:t>Nile Delta drainage networks exceed design life (&gt;20 yr), causing root waterlogging &amp; slashing yields by 10-30%.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Invisible Infrastructure Gap: </a:t>
            </a:r>
            <a:r>
              <a:rPr sz="1150">
                <a:solidFill>
                  <a:srgbClr val="F8FAFC"/>
                </a:solidFill>
                <a:latin typeface="Segoe UI"/>
              </a:rPr>
              <a:t>Buried networks cannot be visually monitored, resulting in silent failures undetected until crop loss occurs.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178808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F0C860"/>
                </a:solidFill>
                <a:latin typeface="Segoe UI"/>
              </a:defRPr>
            </a:pPr>
            <a:r>
              <a:t>🛡️ 2. The Tampering Challenge &amp; Invisible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07992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15B5A4"/>
                </a:solidFill>
                <a:latin typeface="Segoe UI"/>
              </a:defRPr>
            </a:pPr>
            <a:r>
              <a:t> 🔒 Buried Chambers 30-50 cm | &gt;2.5g Shock Sensors &amp; NB-IoT Telemetry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873752"/>
            <a:ext cx="4809744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Unauthorized Interference: </a:t>
            </a:r>
            <a:r>
              <a:rPr sz="1150">
                <a:solidFill>
                  <a:srgbClr val="F8FAFC"/>
                </a:solidFill>
                <a:latin typeface="Segoe UI"/>
              </a:rPr>
              <a:t>EPADP records show 25-40% of failures stem from farmers blocking manholes to pool water for rice cultivation.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Eco-Drain Core Innovation: </a:t>
            </a:r>
            <a:r>
              <a:rPr sz="1150">
                <a:solidFill>
                  <a:srgbClr val="F8FAFC"/>
                </a:solidFill>
                <a:latin typeface="Segoe UI"/>
              </a:rPr>
              <a:t>Replacing surface structures with invisible chambers buried 30-50 cm deep, secured via RFID tags &amp; GPS coordinates.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Active Tamper Deterrence: </a:t>
            </a:r>
            <a:r>
              <a:rPr sz="1150">
                <a:solidFill>
                  <a:srgbClr val="F8FAFC"/>
                </a:solidFill>
                <a:latin typeface="Segoe UI"/>
              </a:rPr>
              <a:t>MPU6050 sensors detect digging/shock (&gt;2.5g), triggering instant AES-128 encrypted alerts via NB-IoT to control centers.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36192"/>
            <a:ext cx="5242255" cy="4956048"/>
          </a:xfrm>
          <a:prstGeom prst="roundRect">
            <a:avLst>
              <a:gd name="adj" fmla="val 6000"/>
            </a:avLst>
          </a:prstGeom>
          <a:solidFill>
            <a:srgbClr val="0F2240"/>
          </a:solidFill>
          <a:ln w="1651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45920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🏛️ 3. Lead Institution, Key Partners &amp; Governance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75104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👑 Executive Lead: Ministry of Water Resources &amp; Irrigation (MWRI) / EPADP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40864"/>
            <a:ext cx="4839919" cy="40599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Lead Executive Institution: </a:t>
            </a:r>
            <a:r>
              <a:rPr sz="1150">
                <a:solidFill>
                  <a:srgbClr val="F8FAFC"/>
                </a:solidFill>
                <a:latin typeface="Segoe UI"/>
              </a:rPr>
              <a:t>Ministry of Water Resources and Irrigation (MWRI) / Egyptian Public Authority for Drainage Projects (EPADP).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Technical &amp; Agricultural Partners: </a:t>
            </a:r>
            <a:r>
              <a:rPr sz="1150">
                <a:solidFill>
                  <a:srgbClr val="F8FAFC"/>
                </a:solidFill>
                <a:latin typeface="Segoe UI"/>
              </a:rPr>
              <a:t>Drainage Research Institute (DRI - NWRC) for independent MRV, and Ministry of Agriculture (MALR) for crop advisory.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Energy &amp; Regulatory Partner: </a:t>
            </a:r>
            <a:r>
              <a:rPr sz="1150">
                <a:solidFill>
                  <a:srgbClr val="F8FAFC"/>
                </a:solidFill>
                <a:latin typeface="Segoe UI"/>
              </a:rPr>
              <a:t>New &amp; Renewable Energy Authority (NREA) &amp; EgyptERA for 50 MW net-metering grid interconnection.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Community &amp; Field Governance: </a:t>
            </a:r>
            <a:r>
              <a:rPr sz="1150">
                <a:solidFill>
                  <a:srgbClr val="F8FAFC"/>
                </a:solidFill>
                <a:latin typeface="Segoe UI"/>
              </a:rPr>
              <a:t>Farmers' Water User Associations (WUAs) co-managing water tables via the 'Smart Farmer Drainage' mobile app.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Multi-Tier Governance Structure: </a:t>
            </a:r>
            <a:r>
              <a:rPr sz="1150">
                <a:solidFill>
                  <a:srgbClr val="F8FAFC"/>
                </a:solidFill>
                <a:latin typeface="Segoe UI"/>
              </a:rPr>
              <a:t>Inter-Ministerial Steering Committee + dedicated PIU inside EPADP + Multi-Stakeholder Platforms in Kafr El-Sheikh.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National Strategic Alignment: </a:t>
            </a:r>
            <a:r>
              <a:rPr sz="1150">
                <a:solidFill>
                  <a:srgbClr val="F8FAFC"/>
                </a:solidFill>
                <a:latin typeface="Segoe UI"/>
              </a:rPr>
              <a:t>Fully aligned with Presidential Initiative 'Irrigation 2.0', Egypt Vision 2030, and National Climate Strategy 2050.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"/>
            <a:ext cx="10728655" cy="36576"/>
          </a:xfrm>
          <a:prstGeom prst="roundRect">
            <a:avLst>
              <a:gd name="adj" fmla="val 50000"/>
            </a:avLst>
          </a:prstGeom>
          <a:solidFill>
            <a:srgbClr val="15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846320" cy="292608"/>
          </a:xfrm>
          <a:prstGeom prst="roundRect">
            <a:avLst>
              <a:gd name="adj" fmla="val 50000"/>
            </a:avLst>
          </a:prstGeom>
          <a:solidFill>
            <a:srgbClr val="162D52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50" b="1">
                <a:solidFill>
                  <a:srgbClr val="15B5A4"/>
                </a:solidFill>
                <a:latin typeface="Segoe UI"/>
              </a:defRPr>
            </a:pPr>
            <a:r>
              <a:t>SLIDE 2 OF 3 | 5-MIN EXECUTIVE PITCH | CLIMATE RESILIENT WEFE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8046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15000"/>
              </a:lnSpc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Integrated WEFE Interventions, Nexus Value &amp; Resilience Scorecard</a:t>
            </a:r>
          </a:p>
          <a:p>
            <a:pPr algn="l">
              <a:lnSpc>
                <a:spcPct val="120000"/>
              </a:lnSpc>
              <a:defRPr sz="1200">
                <a:solidFill>
                  <a:srgbClr val="F0C860"/>
                </a:solidFill>
                <a:latin typeface="Segoe UI"/>
              </a:defRPr>
            </a:pPr>
            <a:r>
              <a:t>2. The 4 Closed-Loop Interventions | Feedback Corrections: Screening Matrix, Blue Carbon &amp; Bankability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3B82F6"/>
                </a:solidFill>
                <a:latin typeface="Segoe UI"/>
              </a:defRPr>
            </a:pPr>
            <a:r>
              <a:t>💧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150M m³/yr Saved (25-30%)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3B82F6"/>
                </a:solidFill>
                <a:latin typeface="Segoe UI"/>
              </a:rPr>
              <a:t>• Tech: </a:t>
            </a:r>
            <a:r>
              <a:rPr sz="1100">
                <a:solidFill>
                  <a:srgbClr val="F8FAFC"/>
                </a:solidFill>
                <a:latin typeface="Segoe UI"/>
              </a:rPr>
              <a:t>Retrofit 100k feddans with HDPE &amp; geotextile filters (40+ yr design life).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B82F6"/>
                </a:solidFill>
                <a:latin typeface="Segoe UI"/>
              </a:rPr>
              <a:t>• Control: </a:t>
            </a:r>
            <a:r>
              <a:rPr sz="1100">
                <a:solidFill>
                  <a:srgbClr val="F8FAFC"/>
                </a:solidFill>
                <a:latin typeface="Segoe UI"/>
              </a:rPr>
              <a:t>Smart gate valves regulate water table, leveraging natural capillary rise.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F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F0C860"/>
                </a:solidFill>
                <a:latin typeface="Segoe UI"/>
              </a:defRPr>
            </a:pPr>
            <a:r>
              <a:t>☀️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F0C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50 MW Solar PV | 90 GWh/yr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F0C860"/>
                </a:solidFill>
                <a:latin typeface="Segoe UI"/>
              </a:rPr>
              <a:t>• Integration: </a:t>
            </a:r>
            <a:r>
              <a:rPr sz="1100">
                <a:solidFill>
                  <a:srgbClr val="F8FAFC"/>
                </a:solidFill>
                <a:latin typeface="Segoe UI"/>
              </a:rPr>
              <a:t>Distributed solar across 25 pump stations powering lift pumps.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0C860"/>
                </a:solidFill>
                <a:latin typeface="Segoe UI"/>
              </a:rPr>
              <a:t>• Grid Export: </a:t>
            </a:r>
            <a:r>
              <a:rPr sz="1100">
                <a:solidFill>
                  <a:srgbClr val="F8FAFC"/>
                </a:solidFill>
                <a:latin typeface="Segoe UI"/>
              </a:rPr>
              <a:t>Cuts 40% electricity bill; surplus exported via Net Metering to grid.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10B981"/>
                </a:solidFill>
                <a:latin typeface="Segoe UI"/>
              </a:defRPr>
            </a:pPr>
            <a:r>
              <a:t>🌾 FOOD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+15-25% Yield Boost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• Crops: </a:t>
            </a:r>
            <a:r>
              <a:rPr sz="1100">
                <a:solidFill>
                  <a:srgbClr val="F8FAFC"/>
                </a:solidFill>
                <a:latin typeface="Segoe UI"/>
              </a:rPr>
              <a:t>Restores yields for wheat, maize, and rice by mitigating root waterlogging.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• Auto-Flushing: </a:t>
            </a:r>
            <a:r>
              <a:rPr sz="1100">
                <a:solidFill>
                  <a:srgbClr val="F8FAFC"/>
                </a:solidFill>
                <a:latin typeface="Segoe UI"/>
              </a:rPr>
              <a:t>EC probes trigger automated flushing when EC &gt; 4 dS/m; close at &lt; 2 dS/m.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536192"/>
            <a:ext cx="2532888" cy="2395728"/>
          </a:xfrm>
          <a:prstGeom prst="roundRect">
            <a:avLst>
              <a:gd name="adj" fmla="val 9000"/>
            </a:avLst>
          </a:prstGeom>
          <a:solidFill>
            <a:srgbClr val="0F2240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645920"/>
            <a:ext cx="2130552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🌿 ECOSYSTEMS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975104"/>
            <a:ext cx="2167128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100k tCO₂/yr | 4,760 Feddans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340864"/>
            <a:ext cx="2130552" cy="14996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15B5A4"/>
                </a:solidFill>
                <a:latin typeface="Segoe UI"/>
              </a:rPr>
              <a:t>• Wetlands: </a:t>
            </a:r>
            <a:r>
              <a:rPr sz="1100">
                <a:solidFill>
                  <a:srgbClr val="F8FAFC"/>
                </a:solidFill>
                <a:latin typeface="Segoe UI"/>
              </a:rPr>
              <a:t>20 constructed wetlands (4,760 feddans) bio-treating 200M m³/yr drainage.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5B5A4"/>
                </a:solidFill>
                <a:latin typeface="Segoe UI"/>
              </a:rPr>
              <a:t>• Biodiversity: </a:t>
            </a:r>
            <a:r>
              <a:rPr sz="1100">
                <a:solidFill>
                  <a:srgbClr val="F8FAFC"/>
                </a:solidFill>
                <a:latin typeface="Segoe UI"/>
              </a:rPr>
              <a:t>Protects northern Delta coastal lakes and commercial inland fisheries.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78808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📊 Formal WEFE Screening Matrix &amp; Resilience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07992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Composite Score: 92/100 | Resilience Rating: HIGH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873752"/>
            <a:ext cx="4809744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Dimension Scores: </a:t>
            </a:r>
            <a:r>
              <a:rPr sz="1150">
                <a:solidFill>
                  <a:srgbClr val="F8FAFC"/>
                </a:solidFill>
                <a:latin typeface="Segoe UI"/>
              </a:rPr>
              <a:t>Water: 10/10 | Energy: 8/10 | Food: 10/10 | Ecosystems: 8/10 | Enablers: 9/10.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Digital Enablers: </a:t>
            </a:r>
            <a:r>
              <a:rPr sz="1150">
                <a:solidFill>
                  <a:srgbClr val="F8FAFC"/>
                </a:solidFill>
                <a:latin typeface="Segoe UI"/>
              </a:rPr>
              <a:t>5,000 IoT nodes + hydraulic Digital Twin enabling real-time remote telemetry.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Shock Absorption: </a:t>
            </a:r>
            <a:r>
              <a:rPr sz="1150">
                <a:solidFill>
                  <a:srgbClr val="F8FAFC"/>
                </a:solidFill>
                <a:latin typeface="Segoe UI"/>
              </a:rPr>
              <a:t>Robust buffer against prolonged droughts and rapid soil salinization waves.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69080"/>
            <a:ext cx="5242255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178808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10B981"/>
                </a:solidFill>
                <a:latin typeface="Segoe UI"/>
              </a:defRPr>
            </a:pPr>
            <a:r>
              <a:t>💎 How WEFE Integration Drives Project Bankability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507992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DSCR = 1.35x | Smart Valve Payback = 0.48 Years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873752"/>
            <a:ext cx="4839919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OPEX Self-Sufficiency: </a:t>
            </a:r>
            <a:r>
              <a:rPr sz="1150">
                <a:solidFill>
                  <a:srgbClr val="F8FAFC"/>
                </a:solidFill>
                <a:latin typeface="Segoe UI"/>
              </a:rPr>
              <a:t>Solar net-metering monetized electricity pays pump operating costs, protecting DSCR (1.35x).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Avoided Cost Valuation: </a:t>
            </a:r>
            <a:r>
              <a:rPr sz="1150">
                <a:solidFill>
                  <a:srgbClr val="F8FAFC"/>
                </a:solidFill>
                <a:latin typeface="Segoe UI"/>
              </a:rPr>
              <a:t>150M m³/yr saved equals $52.5M/yr, achieving an investment payback of 0.48 yr on smart gates.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Diversified Revenues: </a:t>
            </a:r>
            <a:r>
              <a:rPr sz="1150">
                <a:solidFill>
                  <a:srgbClr val="F8FAFC"/>
                </a:solidFill>
                <a:latin typeface="Segoe UI"/>
              </a:rPr>
              <a:t>Energy savings ($8M) + Grid export ($3M) + Avoided water ($5M) + Carbon ($0.5M).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In-Situ Development: </a:t>
            </a:r>
            <a:r>
              <a:rPr sz="1150">
                <a:solidFill>
                  <a:srgbClr val="F8FAFC"/>
                </a:solidFill>
                <a:latin typeface="Segoe UI"/>
              </a:rPr>
              <a:t>Zero displacement or community conflict, removing ESG social safeguard risks completely.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"/>
            <a:ext cx="10728655" cy="36576"/>
          </a:xfrm>
          <a:prstGeom prst="roundRect">
            <a:avLst>
              <a:gd name="adj" fmla="val 50000"/>
            </a:avLst>
          </a:prstGeom>
          <a:solidFill>
            <a:srgbClr val="15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846320" cy="292608"/>
          </a:xfrm>
          <a:prstGeom prst="roundRect">
            <a:avLst>
              <a:gd name="adj" fmla="val 50000"/>
            </a:avLst>
          </a:prstGeom>
          <a:solidFill>
            <a:srgbClr val="162D52"/>
          </a:solidFill>
          <a:ln w="1524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defRPr sz="1050" b="1">
                <a:solidFill>
                  <a:srgbClr val="15B5A4"/>
                </a:solidFill>
                <a:latin typeface="Segoe UI"/>
              </a:defRPr>
            </a:pPr>
            <a:r>
              <a:t>SLIDE 3 OF 3 | 5-MIN EXECUTIVE PITCH | CLIMATE RESILIENT WEFE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8046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15000"/>
              </a:lnSpc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Blended Finance Capital Stack, Readiness, KPIs &amp; Scaling Strategy</a:t>
            </a:r>
          </a:p>
          <a:p>
            <a:pPr algn="l">
              <a:lnSpc>
                <a:spcPct val="120000"/>
              </a:lnSpc>
              <a:defRPr sz="1200">
                <a:solidFill>
                  <a:srgbClr val="F0C860"/>
                </a:solidFill>
                <a:latin typeface="Segoe UI"/>
              </a:defRPr>
            </a:pPr>
            <a:r>
              <a:t>4. Budget &amp; Financiers | 5. Readiness &amp; 10-Feddan Pilot | 6. Expected Results &amp; Regional Scaling Pathway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45920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F0C860"/>
                </a:solidFill>
                <a:latin typeface="Segoe UI"/>
              </a:defRPr>
            </a:pPr>
            <a:r>
              <a:t>💰 1. Total Investment ($420M) &amp; Capital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75104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CAPEX: $420M ($4,200/feddan) | EIRR: 21.4% | Payback: 8 Yrs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4809744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15% Grants / TA ($63M): </a:t>
            </a:r>
            <a:r>
              <a:rPr sz="1150">
                <a:solidFill>
                  <a:srgbClr val="F8FAFC"/>
                </a:solidFill>
                <a:latin typeface="Segoe UI"/>
              </a:rPr>
              <a:t>GCF Readiness, AfDB, EU for 10-feddan pilot, Digital Twin &amp; capacity.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• 20% Government Equity ($84M): </a:t>
            </a:r>
            <a:r>
              <a:rPr sz="1150">
                <a:solidFill>
                  <a:srgbClr val="F8FAFC"/>
                </a:solidFill>
                <a:latin typeface="Segoe UI"/>
              </a:rPr>
              <a:t>In-kind land, existing pump stations, EPADP engineering workforce.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• 40% Concessional Debt ($168M): </a:t>
            </a:r>
            <a:r>
              <a:rPr sz="1150">
                <a:solidFill>
                  <a:srgbClr val="F8FAFC"/>
                </a:solidFill>
                <a:latin typeface="Segoe UI"/>
              </a:rPr>
              <a:t>World Bank (NDP V), AfDB (20-25 yr tenor, long grace period).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25% Commercial Debt / PPP ($105M): </a:t>
            </a:r>
            <a:r>
              <a:rPr sz="1150">
                <a:solidFill>
                  <a:srgbClr val="F8FAFC"/>
                </a:solidFill>
                <a:latin typeface="Segoe UI"/>
              </a:rPr>
              <a:t>Private solar developers secured by PPA | DSCR = 1.35x.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36192"/>
            <a:ext cx="5242255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45920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10B981"/>
                </a:solidFill>
                <a:latin typeface="Segoe UI"/>
              </a:defRPr>
            </a:pPr>
            <a:r>
              <a:t>🚀 2. Implementation Readiness &amp; 10-Feddan 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75104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50-Yr Proven Track Record | 10-Feddan Unit Shovel-Ready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40864"/>
            <a:ext cx="4839919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Institutional Delivery Track Record: </a:t>
            </a:r>
            <a:r>
              <a:rPr sz="1150">
                <a:solidFill>
                  <a:srgbClr val="F8FAFC"/>
                </a:solidFill>
                <a:latin typeface="Segoe UI"/>
              </a:rPr>
              <a:t>EPADP's 50-year proven experience across 6M feddans eliminates construction risk.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10-Feddan Pilot Unit Ready: </a:t>
            </a:r>
            <a:r>
              <a:rPr sz="1150">
                <a:solidFill>
                  <a:srgbClr val="F8FAFC"/>
                </a:solidFill>
                <a:latin typeface="Segoe UI"/>
              </a:rPr>
              <a:t>Detailed engineering ready for immediate deployment on an isolated collector line.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• Technology Maturity (TRL 8-9): </a:t>
            </a:r>
            <a:r>
              <a:rPr sz="1150">
                <a:solidFill>
                  <a:srgbClr val="F8FAFC"/>
                </a:solidFill>
                <a:latin typeface="Segoe UI"/>
              </a:rPr>
              <a:t>High commercial maturity for HDPE pipes, solar systems, and NB-IoT telemetry.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Immediate Action Step: </a:t>
            </a:r>
            <a:r>
              <a:rPr sz="1150">
                <a:solidFill>
                  <a:srgbClr val="F8FAFC"/>
                </a:solidFill>
                <a:latin typeface="Segoe UI"/>
              </a:rPr>
              <a:t>Request Project Preparation Facility (PPF $1.5M) from GCF/AfDB for Kafr El-Sheikh.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78808"/>
            <a:ext cx="4809744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15B5A4"/>
                </a:solidFill>
                <a:latin typeface="Segoe UI"/>
              </a:defRPr>
            </a:pPr>
            <a:r>
              <a:t>🎯 3. Funding Call Fit Score Assessment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07992"/>
            <a:ext cx="4846320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GCF Adaptation: 14/14 (GO) | Adaptation Fund: 13/14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873752"/>
            <a:ext cx="4809744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Green Climate Fund (GCF Adaptation): </a:t>
            </a:r>
            <a:r>
              <a:rPr sz="1150">
                <a:solidFill>
                  <a:srgbClr val="F8FAFC"/>
                </a:solidFill>
                <a:latin typeface="Segoe UI"/>
              </a:rPr>
              <a:t>Score: 14/14 (Decision: GO) — Perfect match for transformational adaptation &amp; digital MRV.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Adaptation Fund: </a:t>
            </a:r>
            <a:r>
              <a:rPr sz="1150">
                <a:solidFill>
                  <a:srgbClr val="F8FAFC"/>
                </a:solidFill>
                <a:latin typeface="Segoe UI"/>
              </a:rPr>
              <a:t>Score: 13/14 (Decision: GO) — Ideal for financing the 10-feddan pilot component.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15B5A4"/>
                </a:solidFill>
                <a:latin typeface="Segoe UI"/>
              </a:rPr>
              <a:t>• PRIMA &amp; EU Global Gateway: </a:t>
            </a:r>
            <a:r>
              <a:rPr sz="1150">
                <a:solidFill>
                  <a:srgbClr val="F8FAFC"/>
                </a:solidFill>
                <a:latin typeface="Segoe UI"/>
              </a:rPr>
              <a:t>High fit for Euro-Mediterranean water innovation and circular climate agriculture.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69080"/>
            <a:ext cx="5242255" cy="2423160"/>
          </a:xfrm>
          <a:prstGeom prst="roundRect">
            <a:avLst>
              <a:gd name="adj" fmla="val 8000"/>
            </a:avLst>
          </a:prstGeom>
          <a:solidFill>
            <a:srgbClr val="0F2240"/>
          </a:solidFill>
          <a:ln w="1651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178808"/>
            <a:ext cx="4839919" cy="34747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50" b="1">
                <a:solidFill>
                  <a:srgbClr val="F8FAFC"/>
                </a:solidFill>
                <a:latin typeface="Segoe UI"/>
              </a:defRPr>
            </a:pPr>
            <a:r>
              <a:t>📈 4. Main Expected Results &amp; Regional Scaling Pathway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507992"/>
            <a:ext cx="4876495" cy="310896"/>
          </a:xfrm>
          <a:prstGeom prst="roundRect">
            <a:avLst>
              <a:gd name="adj" fmla="val 35000"/>
            </a:avLst>
          </a:prstGeom>
          <a:solidFill>
            <a:srgbClr val="162D52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l">
              <a:defRPr sz="1150" b="1">
                <a:solidFill>
                  <a:srgbClr val="F0C860"/>
                </a:solidFill>
                <a:latin typeface="Segoe UI"/>
              </a:defRPr>
            </a:pPr>
            <a:r>
              <a:t> 150M m³ Water Saved | +25% Yield | 50 MW Solar | 100k tCO₂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873752"/>
            <a:ext cx="4839919" cy="1527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0C860"/>
                </a:solidFill>
                <a:latin typeface="Segoe UI"/>
              </a:rPr>
              <a:t>• Core Target KPIs (100,000 Feddans): </a:t>
            </a:r>
            <a:r>
              <a:rPr sz="1150">
                <a:solidFill>
                  <a:srgbClr val="F8FAFC"/>
                </a:solidFill>
                <a:latin typeface="Segoe UI"/>
              </a:rPr>
              <a:t>150M m³/yr water saved • 15-25% crop yield increase • 50 MW clean power.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F8FAFC"/>
                </a:solidFill>
                <a:latin typeface="Segoe UI"/>
              </a:rPr>
              <a:t>• Active Security &amp; Carbon: </a:t>
            </a:r>
            <a:r>
              <a:rPr sz="1150">
                <a:solidFill>
                  <a:srgbClr val="F8FAFC"/>
                </a:solidFill>
                <a:latin typeface="Segoe UI"/>
              </a:rPr>
              <a:t>80% tampering cut • incident response in 1 hour • 100,000 tCO₂e/yr emissions offset.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5B5A4"/>
                </a:solidFill>
                <a:latin typeface="Segoe UI"/>
              </a:rPr>
              <a:t>• 3-Stage Scaling Pathway: </a:t>
            </a:r>
            <a:r>
              <a:rPr sz="1100">
                <a:solidFill>
                  <a:srgbClr val="F8FAFC"/>
                </a:solidFill>
                <a:latin typeface="Segoe UI"/>
              </a:rPr>
              <a:t>Phase 1: 10-feddan pilot (Yr 1) ➡️ Phase 2: 100k feddans (Yrs 2-5) ➡️ Phase 3: Scaling to 4.3M feddans in Nile Delta and exporting to Iraq, Jordan, and Pakistan.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