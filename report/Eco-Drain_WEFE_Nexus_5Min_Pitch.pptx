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53935" y="29260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الشريحة 1 من 3 | عرض تنفيذي في 5 دقائق | محور WEFE المقاوم للمناخ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إيكو-درين (Eco-Drain): إحلال وتجديد شبكات الصرف المغطى الذكية ومقاومة التلاعب</a:t>
            </a:r>
          </a:p>
          <a:p>
            <a:pPr algn="r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1. بيان المشكلة المائية وتحدي التلاعب | 3. الجهة القائدة، الشركاء وهيكل الحوكمة المؤسسية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36192"/>
            <a:ext cx="5242255" cy="237744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645920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EF4444"/>
                </a:solidFill>
                <a:latin typeface="Segoe UI"/>
              </a:defRPr>
            </a:pPr>
            <a:r>
              <a:t>🚨 1. بيان المشكلة المائية وتدهور الشبكات بالدلتا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75104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⚠️ 560 م³/فرد حصة حرجة | 2.3 مليون فدان متقادمة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340864"/>
            <a:ext cx="4839919" cy="14813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الفقر المائي الحرج: </a:t>
            </a:r>
            <a:r>
              <a:rPr sz="1150">
                <a:solidFill>
                  <a:srgbClr val="F8FAFC"/>
                </a:solidFill>
                <a:latin typeface="Segoe UI"/>
              </a:rPr>
              <a:t>حصة مصر 55.5 مليار م³ لـ 106+ مليون نسمة (560 م³/فرد، أقل بكثير من حد الفقر العالمي 1,000 م³).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تقادم 2.3 مليون فدان: </a:t>
            </a:r>
            <a:r>
              <a:rPr sz="1150">
                <a:solidFill>
                  <a:srgbClr val="F8FAFC"/>
                </a:solidFill>
                <a:latin typeface="Segoe UI"/>
              </a:rPr>
              <a:t>شبكات الصرف تجاوزت عمرها (20-25 سنة)، مسببة تغدق الجذور وتملح التربة وخسارة 10-30% من المحاصيل.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أزمة البنية غير المرئية: </a:t>
            </a:r>
            <a:r>
              <a:rPr sz="1150">
                <a:solidFill>
                  <a:srgbClr val="F8FAFC"/>
                </a:solidFill>
                <a:latin typeface="Segoe UI"/>
              </a:rPr>
              <a:t>شبكات مدفونة تحت الأرض يصعب فحصها بصرياً وتتأخر صيانتها لسنوات حتى يتلف المحصول.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80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178808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🛡️ 2. تحدي التلاعب الزراعي وابتكار الغرف غير المرئية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07992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15B5A4"/>
                </a:solidFill>
                <a:latin typeface="Segoe UI"/>
              </a:defRPr>
            </a:pPr>
            <a:r>
              <a:t> 🔒 غرف غاطسة مدفونة 30-50 سم | رصد اهتزاز &gt;2.5g وإنذار NB-IoT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873752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التعديات العشوائية: </a:t>
            </a:r>
            <a:r>
              <a:rPr sz="1150">
                <a:solidFill>
                  <a:srgbClr val="F8FAFC"/>
                </a:solidFill>
                <a:latin typeface="Segoe UI"/>
              </a:rPr>
              <a:t>سجلات هيئة الصرف توثق أن 25-40% من الأعطال ناجمة عن سد المزارعين للمناهل لحبس المياه لزراعة الأرز.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ابتكار الغرف الغاطسة: </a:t>
            </a:r>
            <a:r>
              <a:rPr sz="1150">
                <a:solidFill>
                  <a:srgbClr val="F8FAFC"/>
                </a:solidFill>
                <a:latin typeface="Segoe UI"/>
              </a:rPr>
              <a:t>استبدال الغرف السطحية بغرف مدفونة 30-50 سم مع شرائح RFID وإحداثيات GPS تمنع التلاعب نهائياً.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الردع الذكي الفوري: </a:t>
            </a:r>
            <a:r>
              <a:rPr sz="1150">
                <a:solidFill>
                  <a:srgbClr val="F8FAFC"/>
                </a:solidFill>
                <a:latin typeface="Segoe UI"/>
              </a:rPr>
              <a:t>حساسات MPU6050 ترصد أي اهتزاز أو حفر (&gt;2.5g) وتبث إنذار طوارئ مشفر (AES-128) عبر NB-IoT إلى مركز التحكم.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36192"/>
            <a:ext cx="5212080" cy="4956048"/>
          </a:xfrm>
          <a:prstGeom prst="roundRect">
            <a:avLst>
              <a:gd name="adj" fmla="val 6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1645920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🏛️ 3. الجهة القائدة، الشركاء وهيكل الحوكمة المؤسسية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975104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👑 قيادة تنفيذية: وزارة الموارد المائية والري (MWRI) / هيئة الصرف (EPADP)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340864"/>
            <a:ext cx="4809744" cy="40599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الجهة القائدة التنفيذية: </a:t>
            </a:r>
            <a:r>
              <a:rPr sz="1150">
                <a:solidFill>
                  <a:srgbClr val="F8FAFC"/>
                </a:solidFill>
                <a:latin typeface="Segoe UI"/>
              </a:rPr>
              <a:t>الهيئة المصرية العامة لمشروعات الصرف (EPADP - المكتب الفني للوجه البحري) بخبرة 50 عاماً في إدارة الشبكات.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الشركاء الفنيون والزراعيون: </a:t>
            </a:r>
            <a:r>
              <a:rPr sz="1150">
                <a:solidFill>
                  <a:srgbClr val="F8FAFC"/>
                </a:solidFill>
                <a:latin typeface="Segoe UI"/>
              </a:rPr>
              <a:t>معهد بحوث الصرف (DRI) للمواصفات والتحقق، ووزارة الزراعة (MALR) لتحسين إنتاجية المحاصيل.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شريك الطاقة والربط الشبكي: </a:t>
            </a:r>
            <a:r>
              <a:rPr sz="1150">
                <a:solidFill>
                  <a:srgbClr val="F8FAFC"/>
                </a:solidFill>
                <a:latin typeface="Segoe UI"/>
              </a:rPr>
              <a:t>هيئة الطاقة المتجددة (NREA) وجهاز تنظيم الكهرباء (EgyptERA) لتطبيق صافي القياس (Net Metering).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الحوكمة المجتمعية والميدانية: </a:t>
            </a:r>
            <a:r>
              <a:rPr sz="1150">
                <a:solidFill>
                  <a:srgbClr val="F8FAFC"/>
                </a:solidFill>
                <a:latin typeface="Segoe UI"/>
              </a:rPr>
              <a:t>روابط مستخدمي المياه (WUAs) للمشاركة الفعالة عبر تطبيق الهاتف (Smart Farmer Drainage).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هيكل الحوكمة متعدد المستويات: </a:t>
            </a:r>
            <a:r>
              <a:rPr sz="1150">
                <a:solidFill>
                  <a:srgbClr val="F8FAFC"/>
                </a:solidFill>
                <a:latin typeface="Segoe UI"/>
              </a:rPr>
              <a:t>لجنة وزارية عليا توجيهية + وحدة إدارة مخصصة (PIU) بهيئة الصرف + لجان محلية بالمحافظات.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التوافق الاستراتيجي الوطني: </a:t>
            </a:r>
            <a:r>
              <a:rPr sz="1150">
                <a:solidFill>
                  <a:srgbClr val="F8FAFC"/>
                </a:solidFill>
                <a:latin typeface="Segoe UI"/>
              </a:rPr>
              <a:t>متوافق تماماً مع مبادرة 'منظومة المياه والري 2.0'، ورؤية مصر 2030، واستراتيجية المناخ 2050.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53935" y="29260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الشريحة 2 من 3 | عرض تنفيذي في 5 دقائق | محور WEFE المقاوم للمناخ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تدخلات WEFE المتكاملة، مصفوفة الفرز الرسمية، وتعزيز الجدوى البنكية</a:t>
            </a:r>
          </a:p>
          <a:p>
            <a:pPr algn="r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2. التدخلات المغلقة الأربعة | تصحيحات التقرير: مصفوفة الفرز، النظم البيئية، وتعزيز الجدوى البنكية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3B82F6"/>
                </a:solidFill>
                <a:latin typeface="Segoe UI"/>
              </a:defRPr>
            </a:pPr>
            <a:r>
              <a:t>💧 المياه (Water)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وفر 150M م³/سنة (25-30%)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3B82F6"/>
                </a:solidFill>
                <a:latin typeface="Segoe UI"/>
              </a:rPr>
              <a:t>• التقنية: </a:t>
            </a:r>
            <a:r>
              <a:rPr sz="1100">
                <a:solidFill>
                  <a:srgbClr val="F8FAFC"/>
                </a:solidFill>
                <a:latin typeface="Segoe UI"/>
              </a:rPr>
              <a:t>إحلال 100k فدان بمواسير HDPE وفلاتر جيوتكستيل (عمر 40+ سنة).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B82F6"/>
                </a:solidFill>
                <a:latin typeface="Segoe UI"/>
              </a:rPr>
              <a:t>• التحكم: </a:t>
            </a:r>
            <a:r>
              <a:rPr sz="1100">
                <a:solidFill>
                  <a:srgbClr val="F8FAFC"/>
                </a:solidFill>
                <a:latin typeface="Segoe UI"/>
              </a:rPr>
              <a:t>صمامات ذكية تستفيد من الصعود الشعري لتغذية جذور المحاصيل ذاتياً.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F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☀️ الطاقة (Energy)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F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50 MW شمسية | 90 GWh/سنة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F0C860"/>
                </a:solidFill>
                <a:latin typeface="Segoe UI"/>
              </a:rPr>
              <a:t>• المحطات: </a:t>
            </a:r>
            <a:r>
              <a:rPr sz="1100">
                <a:solidFill>
                  <a:srgbClr val="F8FAFC"/>
                </a:solidFill>
                <a:latin typeface="Segoe UI"/>
              </a:rPr>
              <a:t>طاقة شمسية موزعة على 25 محطة رفع لتشغيل طلمبات الصرف.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0C860"/>
                </a:solidFill>
                <a:latin typeface="Segoe UI"/>
              </a:rPr>
              <a:t>• الوفر: </a:t>
            </a:r>
            <a:r>
              <a:rPr sz="1100">
                <a:solidFill>
                  <a:srgbClr val="F8FAFC"/>
                </a:solidFill>
                <a:latin typeface="Segoe UI"/>
              </a:rPr>
              <a:t>خفض 40% من تكلفة الضخ وتصدير الفائض بنظام صافي القياس.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🌾 الغذاء (Food)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+15-25% زيادة المحاصيل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• المحاصيل: </a:t>
            </a:r>
            <a:r>
              <a:rPr sz="1100">
                <a:solidFill>
                  <a:srgbClr val="F8FAFC"/>
                </a:solidFill>
                <a:latin typeface="Segoe UI"/>
              </a:rPr>
              <a:t>زيادة غلة القمح والذرة والأرز لأكثر من 200,000 مزارع.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• غسيل ذكي: </a:t>
            </a:r>
            <a:r>
              <a:rPr sz="1100">
                <a:solidFill>
                  <a:srgbClr val="F8FAFC"/>
                </a:solidFill>
                <a:latin typeface="Segoe UI"/>
              </a:rPr>
              <a:t>صمام آلي يفتح للغسيل عند EC &gt; 4 ويغلق عند EC &lt; 2 dS/m.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🌿 النظم البيئية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100k طن كربون | 4,760 فدان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أراضٍ رطبة: </a:t>
            </a:r>
            <a:r>
              <a:rPr sz="1100">
                <a:solidFill>
                  <a:srgbClr val="F8FAFC"/>
                </a:solidFill>
                <a:latin typeface="Segoe UI"/>
              </a:rPr>
              <a:t>20 محطة معالجة طبيعية تنقي 200M م³ مياه صرف حيوياً.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الأثر البيئي: </a:t>
            </a:r>
            <a:r>
              <a:rPr sz="1100">
                <a:solidFill>
                  <a:srgbClr val="F8FAFC"/>
                </a:solidFill>
                <a:latin typeface="Segoe UI"/>
              </a:rPr>
              <a:t>حماية بحيرات الدلتا الشمالية والتنوع البيولوجي للأسماك.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69080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178808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📊 مصفوفة فرز WEFE الرسمية وبطاقة قياس المرونة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07992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التقييم المركب: 92 / 100 | تصنيف المرونة: HIGH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873752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درجات الأبعاد الخمسة: </a:t>
            </a:r>
            <a:r>
              <a:rPr sz="1150">
                <a:solidFill>
                  <a:srgbClr val="F8FAFC"/>
                </a:solidFill>
                <a:latin typeface="Segoe UI"/>
              </a:rPr>
              <a:t>المياه: 10/10 | الطاقة: 8/10 | الغذاء: 10/10 | النظم البيئية: 8/10 | الرقمنة: 9/10.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الممكنات الرقمية: </a:t>
            </a:r>
            <a:r>
              <a:rPr sz="1150">
                <a:solidFill>
                  <a:srgbClr val="F8FAFC"/>
                </a:solidFill>
                <a:latin typeface="Segoe UI"/>
              </a:rPr>
              <a:t>5,000 عقدة IoT مع توأم رقمي هيدروليكي للتحكم عن بُعد والتنبؤ بالأعطال لحظياً.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استيعاب الصدمات المناخية: </a:t>
            </a:r>
            <a:r>
              <a:rPr sz="1150">
                <a:solidFill>
                  <a:srgbClr val="F8FAFC"/>
                </a:solidFill>
                <a:latin typeface="Segoe UI"/>
              </a:rPr>
              <a:t>مرونة عالية في مواجهة موجات الجفاف المتكررة وحماية التربة من نوبات التملح المفاجئ.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69080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178808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💎 كيف يعزز تكامل WEFE الجدوى البنكية للمشروع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07992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DSCR = 1.35x | فترة استرداد 0.48 سنة للري الذكي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873752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الاكتفاء الذاتي التشغيلي: </a:t>
            </a:r>
            <a:r>
              <a:rPr sz="1150">
                <a:solidFill>
                  <a:srgbClr val="F8FAFC"/>
                </a:solidFill>
                <a:latin typeface="Segoe UI"/>
              </a:rPr>
              <a:t>الطاقة الشمسية تسدد تكاليف كهرباء الطلمبات، مما يحمي نسبة خدمة الدين (DSCR = 1.35x).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قيمة التكلفة المتجنبة: </a:t>
            </a:r>
            <a:r>
              <a:rPr sz="1150">
                <a:solidFill>
                  <a:srgbClr val="F8FAFC"/>
                </a:solidFill>
                <a:latin typeface="Segoe UI"/>
              </a:rPr>
              <a:t>توفير 150M م³ يعادل 52.5 مليون دولار سنوياً، محققاً استرداداً خلال 0.48 سنة للري الذكي.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تنوع التدفقات النقدية: </a:t>
            </a:r>
            <a:r>
              <a:rPr sz="1150">
                <a:solidFill>
                  <a:srgbClr val="F8FAFC"/>
                </a:solidFill>
                <a:latin typeface="Segoe UI"/>
              </a:rPr>
              <a:t>وفر طاقة ($8M) + تصدير شبكة ($3M) + مياه ($5M) + أرصدة كربون ($0.5M).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انعدام النزاعات الاجتماعية: </a:t>
            </a:r>
            <a:r>
              <a:rPr sz="1150">
                <a:solidFill>
                  <a:srgbClr val="F8FAFC"/>
                </a:solidFill>
                <a:latin typeface="Segoe UI"/>
              </a:rPr>
              <a:t>تطوير موضعي (In-situ) في أراضي الدلتا القديمة دون تهجير أو نزاع على المياه.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53935" y="29260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الشريحة 3 من 3 | عرض تنفيذي في 5 دقائق | محور WEFE المقاوم للمناخ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هيكل رأس المال المختلط، الجاهزية، ومسار التوسع الإقليمي</a:t>
            </a:r>
          </a:p>
          <a:p>
            <a:pPr algn="r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4. الميزانية والجهات الممولة | 5. الجاهزية ووحدة الاختبار | 6. مؤشرات الأداء ومسار التوسع الإقليمي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36192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645920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💰 1. إجمالي التكلفة (420M$) وهيكل التمويل المختلط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75104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CAPEX: 420M$ (4,200 $/فدان) | EIRR = 21.4% | استرداد 8 سنوات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340864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15% منح ومعونات (63M$): </a:t>
            </a:r>
            <a:r>
              <a:rPr sz="1150">
                <a:solidFill>
                  <a:srgbClr val="F8FAFC"/>
                </a:solidFill>
                <a:latin typeface="Segoe UI"/>
              </a:rPr>
              <a:t>من GCF و AfDB و EU للحقل التجريبي والتوأم الرقمي وبناء القدرات.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20% مساهمة حكومية (84M$): </a:t>
            </a:r>
            <a:r>
              <a:rPr sz="1150">
                <a:solidFill>
                  <a:srgbClr val="F8FAFC"/>
                </a:solidFill>
                <a:latin typeface="Segoe UI"/>
              </a:rPr>
              <a:t>أراضٍ ومحطات طلمبات قائمة وكوادر هيئة الصرف (EPADP).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40% قروض ميسرة (168M$): </a:t>
            </a:r>
            <a:r>
              <a:rPr sz="1150">
                <a:solidFill>
                  <a:srgbClr val="F8FAFC"/>
                </a:solidFill>
                <a:latin typeface="Segoe UI"/>
              </a:rPr>
              <a:t>البنك الدولي (NDP V) وبنك التنمية الأفريقي (سداد 20-25 سنة).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25% شراكة PPP (105M$): </a:t>
            </a:r>
            <a:r>
              <a:rPr sz="1150">
                <a:solidFill>
                  <a:srgbClr val="F8FAFC"/>
                </a:solidFill>
                <a:latin typeface="Segoe UI"/>
              </a:rPr>
              <a:t>مستثمرون لمكون الطاقة الشمسية 50 MW مدعوماً بـ PPA | خدمة دين DSCR = 1.35x.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361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45920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🚀 2. حالة الجاهزية ووحدة الاختبار (10 أفدنة)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75104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خبرة 50 عاماً في 6M فدان | وحدة 10 أفدنة جاهزة فوراً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40864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الخبرة المؤسسية المتراكمة: </a:t>
            </a:r>
            <a:r>
              <a:rPr sz="1150">
                <a:solidFill>
                  <a:srgbClr val="F8FAFC"/>
                </a:solidFill>
                <a:latin typeface="Segoe UI"/>
              </a:rPr>
              <a:t>50 عاماً لهيئة الصرف (EPADP) في تنفيذ 6 ملايين فدان تقضي تماماً على مخاطر التنفيذ.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وحدة الاختبار الحقلية (10 أفدنة): </a:t>
            </a:r>
            <a:r>
              <a:rPr sz="1150">
                <a:solidFill>
                  <a:srgbClr val="F8FAFC"/>
                </a:solidFill>
                <a:latin typeface="Segoe UI"/>
              </a:rPr>
              <a:t>تصميم هندسي متكامل جاهز للتنفيذ الفوري لاختبار الصعود الشعري والصمامات الذكية.</a:t>
            </a:r>
          </a:p>
          <a:p>
            <a:pPr algn="r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الجاهزية التكنولوجية (TRL 8-9): </a:t>
            </a:r>
            <a:r>
              <a:rPr sz="1150">
                <a:solidFill>
                  <a:srgbClr val="F8FAFC"/>
                </a:solidFill>
                <a:latin typeface="Segoe UI"/>
              </a:rPr>
              <a:t>نضج تجاري كامل لمواسير HDPE والمحطات الشمسية وحساسات NB-IoT.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الخطوة التنفيذية الفورية: </a:t>
            </a:r>
            <a:r>
              <a:rPr sz="1150">
                <a:solidFill>
                  <a:srgbClr val="F8FAFC"/>
                </a:solidFill>
                <a:latin typeface="Segoe UI"/>
              </a:rPr>
              <a:t>طلب منحة تحضيرية (PPF Grant بقيمة 1.5M$) من GCF/AfDB لدراسات كفر الشيخ.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4178808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🎯 3. تحليل ملاءمة جهات التمويل (Funding Fit)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07992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صندوق المناخ GCF: 14/14 (GO) | صندوق التكيف: 13/14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873752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صندوق المناخ الأخضر (GCF): </a:t>
            </a:r>
            <a:r>
              <a:rPr sz="1150">
                <a:solidFill>
                  <a:srgbClr val="F8FAFC"/>
                </a:solidFill>
                <a:latin typeface="Segoe UI"/>
              </a:rPr>
              <a:t>درجة 14/14 (قرار: GO) — تطابق كامل مع نافذة التكيف وتخفيف الانبعاثات والتحول الرقمي.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صندوق التكيف (Adaptation Fund): </a:t>
            </a:r>
            <a:r>
              <a:rPr sz="1150">
                <a:solidFill>
                  <a:srgbClr val="F8FAFC"/>
                </a:solidFill>
                <a:latin typeface="Segoe UI"/>
              </a:rPr>
              <a:t>درجة 13/14 (قرار: GO) — مثالي لتمويل الحقل التجريبي وبناء القدرات المجتمعية.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برنامج PRIMA وبوابة الاتحاد الأوروبي: </a:t>
            </a:r>
            <a:r>
              <a:rPr sz="1150">
                <a:solidFill>
                  <a:srgbClr val="F8FAFC"/>
                </a:solidFill>
                <a:latin typeface="Segoe UI"/>
              </a:rPr>
              <a:t>ملاءمة مرتفعة جداً للابتكار الزراعي المائي والتعاون الإقليمي الأورومتوسطي.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78808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450" b="1">
                <a:solidFill>
                  <a:srgbClr val="F8FAFC"/>
                </a:solidFill>
                <a:latin typeface="Segoe UI"/>
              </a:defRPr>
            </a:pPr>
            <a:r>
              <a:t>📈 4. مؤشرات الأداء الرئيسية ومسار التوسع الإقليمي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07992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r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وفر 150M م³ | +25% غلة | 50 MW طاقة | 100k طن كربون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73752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مؤشرات الأداء (100,000 فدان): </a:t>
            </a:r>
            <a:r>
              <a:rPr sz="1150">
                <a:solidFill>
                  <a:srgbClr val="F8FAFC"/>
                </a:solidFill>
                <a:latin typeface="Segoe UI"/>
              </a:rPr>
              <a:t>150M م³/سنة وفر مائي • +15-25% غلة المحاصيل • 50 MW طاقة نظيفة.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الردع والاستدامة: </a:t>
            </a:r>
            <a:r>
              <a:rPr sz="1150">
                <a:solidFill>
                  <a:srgbClr val="F8FAFC"/>
                </a:solidFill>
                <a:latin typeface="Segoe UI"/>
              </a:rPr>
              <a:t>خفض التعديات 80% • كشف الأعطال في ساعة واحدة • احتجاز 100,000 طن CO₂ سنوياً.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مسار التوسع الإقليمي (3 مراحل): </a:t>
            </a:r>
            <a:r>
              <a:rPr sz="1100">
                <a:solidFill>
                  <a:srgbClr val="F8FAFC"/>
                </a:solidFill>
                <a:latin typeface="Segoe UI"/>
              </a:rPr>
              <a:t>حقل تجريبي 10 أفدنة (سنة 1) ⬅️ مشروع ريادي 100 ألف فدان (سنوات 2-5) ⬅️ تعميم عبر 4.3M فدان بالدلتا ونقل التجربة للعراق والأردن وباكستان.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