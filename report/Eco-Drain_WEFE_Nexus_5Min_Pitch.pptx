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950" b="1">
                <a:solidFill>
                  <a:srgbClr val="15B5A4"/>
                </a:solidFill>
              </a:defRPr>
            </a:pPr>
            <a:r>
              <a:t>SLIDE 1 OF 3 | 5-MIN EXECUTIVE PITCH | WEFE NEXUS PROFESSIONAL SERIES</a:t>
            </a:r>
          </a:p>
          <a:p>
            <a:pPr>
              <a:defRPr sz="2000" b="1">
                <a:solidFill>
                  <a:srgbClr val="F8FAFC"/>
                </a:solidFill>
              </a:defRPr>
            </a:pPr>
            <a:r>
              <a:t>Eco-Drain: Invisible Tamper-Proof Subsurface Drainage Retrofitting</a:t>
            </a:r>
          </a:p>
          <a:p>
            <a:pPr>
              <a:defRPr sz="1100">
                <a:solidFill>
                  <a:srgbClr val="F0C860"/>
                </a:solidFill>
              </a:defRPr>
            </a:pPr>
            <a:r>
              <a:t>1. Project Title &amp; Problem Addressed | 3. Lead Institution &amp; Key Governance Arrangements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12080" cy="2377440"/>
          </a:xfrm>
          <a:prstGeom prst="roundRect">
            <a:avLst/>
          </a:prstGeom>
          <a:solidFill>
            <a:srgbClr val="0F2240"/>
          </a:solidFill>
          <a:ln w="12700">
            <a:solidFill>
              <a:srgbClr val="15B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484632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 b="1">
                <a:solidFill>
                  <a:srgbClr val="EF4444"/>
                </a:solidFill>
              </a:defRPr>
            </a:pPr>
            <a:r>
              <a:t>🚨 1. National Problem Statement &amp; Delta Water Crisis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4846320" cy="1783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>
                <a:solidFill>
                  <a:srgbClr val="F8FAFC"/>
                </a:solidFill>
              </a:defRPr>
            </a:pPr>
            <a:r>
              <a:t>• Severe Water Scarcity: Egypt's quota is 55.5 BCM for 106M+ people -&gt; 560 m³/capita (below 1,000 m³ water poverty line).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• 2.3 Million Feddans Expired: Aging Nile Delta subsurface drainage (&gt;20 yr design life) causes waterlogging &amp; root-zone salinity, slashing crop yields by 10–30%.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• The Invisible Infrastructure Gap: Buried networks cannot be visually monitored, resulting in silent failures undetected until topsoil salinization is severe.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77639"/>
            <a:ext cx="5212080" cy="2423160"/>
          </a:xfrm>
          <a:prstGeom prst="roundRect">
            <a:avLst/>
          </a:prstGeom>
          <a:solidFill>
            <a:srgbClr val="0F2240"/>
          </a:solidFill>
          <a:ln w="12700">
            <a:solidFill>
              <a:srgbClr val="15B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799"/>
            <a:ext cx="484632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 b="1">
                <a:solidFill>
                  <a:srgbClr val="F0C860"/>
                </a:solidFill>
              </a:defRPr>
            </a:pPr>
            <a:r>
              <a:t>🛡️ 2. The Tampering Challenge &amp; Invisible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80559"/>
            <a:ext cx="4846320" cy="18288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>
                <a:solidFill>
                  <a:srgbClr val="F8FAFC"/>
                </a:solidFill>
              </a:defRPr>
            </a:pPr>
            <a:r>
              <a:t>• The Vulnerability: EPADP records show 25–40% of drainage failures stem from unauthorized farmer modifications (blocking manholes for rice or extracting drainage).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• Eco-Drain Core Innovation: Replacing surface manholes with invisible chambers buried 30–50 cm underground, accessible only via RFID tags &amp; GPS.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• Active Deterrence: Accelerometers detect digging (&gt;2.5g), triggering instant AES-128 GPS alerts via NB-IoT to control centers, stopping sabotage immediately.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242255" cy="4937760"/>
          </a:xfrm>
          <a:prstGeom prst="roundRect">
            <a:avLst/>
          </a:prstGeom>
          <a:solidFill>
            <a:srgbClr val="0F2240"/>
          </a:solidFill>
          <a:ln w="12700">
            <a:solidFill>
              <a:srgbClr val="15B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600200"/>
            <a:ext cx="4876495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 b="1">
                <a:solidFill>
                  <a:srgbClr val="15B5A4"/>
                </a:solidFill>
              </a:defRPr>
            </a:pPr>
            <a:r>
              <a:t>🏛️ 3. Lead Institution, Key Partners &amp; Governance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965960"/>
            <a:ext cx="4876495" cy="43434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50" b="1">
                <a:solidFill>
                  <a:srgbClr val="F0C860"/>
                </a:solidFill>
              </a:defRPr>
            </a:pPr>
            <a:r>
              <a:t>• Lead Executive Institution: Ministry of Water Resources and Irrigation (MWRI) / Egyptian Public Authority for Drainage Projects (EPADP - Technical Office Lower Egypt).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• Key Technical Partners: Drainage Research Institute (DRI - NWRC) for soil telemetry, hydraulic criteria &amp; independent MRV verification.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• Energy &amp; Regulatory Partner: New &amp; Renewable Energy Authority (NREA) &amp; EgyptERA for 50 MW net-metering grid interconnection.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• Agricultural Extension: Ministry of Agriculture &amp; Land Reclamation (MALR) for crop yield monitoring &amp; farmer advisory.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• Local Governance &amp; Ownership: Farmers' Water User Associations (WUAs) co-managing water tables via the 'Smart Farmer' mobile app.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• Multi-Tier Governance Structure: • Steering Committee: Inter-ministerial oversight (MWRI, MALR, MoE, MoF).</a:t>
            </a:r>
            <a:br/>
            <a:r>
              <a:t>• Dedicated PIU: Project Implementation Unit inside EPADP.</a:t>
            </a:r>
            <a:br/>
            <a:r>
              <a:t>• Multi-Stakeholder Platform: Local WUA committees in Kafr El-Sheikh &amp; Dakahlia.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• Strategic Alignment: Fully aligned with MWRI Water &amp; Irrigation System 2.0 (Presidential Initiative), Egypt Vision 2030, and National Climate Change Strategy 2050.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950" b="1">
                <a:solidFill>
                  <a:srgbClr val="15B5A4"/>
                </a:solidFill>
              </a:defRPr>
            </a:pPr>
            <a:r>
              <a:t>SLIDE 2 OF 3 | 5-MIN EXECUTIVE PITCH | WEFE NEXUS PROFESSIONAL SERIES</a:t>
            </a:r>
          </a:p>
          <a:p>
            <a:pPr>
              <a:defRPr sz="2000" b="1">
                <a:solidFill>
                  <a:srgbClr val="F8FAFC"/>
                </a:solidFill>
              </a:defRPr>
            </a:pPr>
            <a:r>
              <a:t>Integrated WEFE Interventions, Nexus Value &amp; Resilience Scorecard</a:t>
            </a:r>
          </a:p>
          <a:p>
            <a:pPr>
              <a:defRPr sz="1100">
                <a:solidFill>
                  <a:srgbClr val="F0C860"/>
                </a:solidFill>
              </a:defRPr>
            </a:pPr>
            <a:r>
              <a:t>2. Main WEFE Interventions &amp; Closed-Loop Benefits | Feedback Report Corrections: Screening Matrix, Ecosystem &amp; Bankability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728655" cy="2468880"/>
          </a:xfrm>
          <a:prstGeom prst="roundRect">
            <a:avLst/>
          </a:prstGeom>
          <a:solidFill>
            <a:srgbClr val="0F2240"/>
          </a:solidFill>
          <a:ln w="12700">
            <a:solidFill>
              <a:srgbClr val="15B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362895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 b="1">
                <a:solidFill>
                  <a:srgbClr val="F0C860"/>
                </a:solidFill>
              </a:defRPr>
            </a:pPr>
            <a:r>
              <a:t>⚡ 1. The 4 Closed-Loop WEFE Interventions (100,000 Feddans Pilot)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62895" cy="1874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950">
                <a:solidFill>
                  <a:srgbClr val="F8FAFC"/>
                </a:solidFill>
              </a:defRPr>
            </a:pPr>
            <a:r>
              <a:t>💧 WATER (الـمـيـاه): Retrofit 100k feddans with HDPE &amp; geotextile filters (40+ yr life). Motorized gate valves control water table, leveraging Capillary Rise (h=2γcosθ/ρgr) to save 150M m³/yr (25–30% irrigation water).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☀️ ENERGY (الـطـاقـة): 50 MW distributed solar PV across 25 pump stations producing 90 GWh/yr. Offsets 40% pumping electricity bill; surplus exported via EgyptERA Net Metering to national grid.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🌾 FOOD (الـغـذاء): Yield restored by 15–25% (wheat, rice, maize) across 100,000 feddans. Soil EC probe automated flushing (opens valve when EC &gt; 4 dS/m; closes when EC &lt; 2 dS/m).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🌿 ECOSYSTEMS (الـبـيـئـة): 20 constructed wetlands (4,760 feddans) treating 200M m³/yr of drainage water biologically (Phragmites/Typha). Protects Delta lakes fisheries + 100k tCO₂/yr (Verra VM0033).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69080"/>
            <a:ext cx="5212080" cy="2331720"/>
          </a:xfrm>
          <a:prstGeom prst="roundRect">
            <a:avLst/>
          </a:prstGeom>
          <a:solidFill>
            <a:srgbClr val="0F2240"/>
          </a:solidFill>
          <a:ln w="12700">
            <a:solidFill>
              <a:srgbClr val="15B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206240"/>
            <a:ext cx="484632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 b="1">
                <a:solidFill>
                  <a:srgbClr val="15B5A4"/>
                </a:solidFill>
              </a:defRPr>
            </a:pPr>
            <a:r>
              <a:t>📊 2. Formal WEFE Screening Matrix &amp; Resilience Scoring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4846320" cy="17373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850">
                <a:solidFill>
                  <a:srgbClr val="F8FAFC"/>
                </a:solidFill>
              </a:defRPr>
            </a:pPr>
            <a:r>
              <a:t>• Water Dimension (Score: 10/10): 150M m³/yr saved; water table stabilized at 0.8–1.2m.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• Energy Dimension (Score: 8/10): 50 MW solar; 90 GWh/yr clean power; 40% OPEX cut.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• Food Dimension (Score: 10/10): 15–25% yield boost; import substitution; 200k farmers.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• Ecosystem Dimension (Score: 8/10): 4,760 feddans wetlands; blue carbon; lake biodiversity.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• Enabler Dimension (Score: 9/10): 5,000 IoT nodes (ESP32); AI digital twin; tamper alert.</a:t>
            </a:r>
          </a:p>
          <a:p>
            <a:pPr>
              <a:defRPr sz="850">
                <a:solidFill>
                  <a:srgbClr val="F0C860"/>
                </a:solidFill>
              </a:defRPr>
            </a:pPr>
            <a:r>
              <a:t>• COMPOSITE WEFE SCORE: 92/100: RESILIENCE SCORECARD: HIGH across all 5 dimensions.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069080"/>
            <a:ext cx="5242255" cy="2331720"/>
          </a:xfrm>
          <a:prstGeom prst="roundRect">
            <a:avLst/>
          </a:prstGeom>
          <a:solidFill>
            <a:srgbClr val="0F2240"/>
          </a:solidFill>
          <a:ln w="12700">
            <a:solidFill>
              <a:srgbClr val="15B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4206240"/>
            <a:ext cx="4876495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💎 3. How WEFE Integration Directly Drives Bankability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4572000"/>
            <a:ext cx="4876495" cy="17373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850">
                <a:solidFill>
                  <a:srgbClr val="F8FAFC"/>
                </a:solidFill>
              </a:defRPr>
            </a:pPr>
            <a:r>
              <a:t>• OPEX Self-Sufficiency: Solar generation monetized via Net Metering pays pump electricity, slashing default risk and protecting DSCR (1.35x).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• Quantified Avoided-Cost Value: Saving 150M m³/yr is valued at $52.5M/yr (at $0.35/m³ alternative supply), yielding an investment payback of only 0.48 years for smart irrigation.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• Diversified Revenue Streams: Energy savings ($8M/yr) + Grid export ($3M/yr) + Avoided water costs ($5M/yr) + Carbon offsets ($0.5M/yr) + Enhanced farmer tariffs.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• Zero Downstream Displacement: Unlike mega-diversion plants (Bahr El-Baqar), Eco-Drain operates in-situ, eliminating community conflict and environmental safeguard rejection.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950" b="1">
                <a:solidFill>
                  <a:srgbClr val="15B5A4"/>
                </a:solidFill>
              </a:defRPr>
            </a:pPr>
            <a:r>
              <a:t>SLIDE 3 OF 3 | 5-MIN EXECUTIVE PITCH | WEFE NEXUS PROFESSIONAL SERIES</a:t>
            </a:r>
          </a:p>
          <a:p>
            <a:pPr>
              <a:defRPr sz="2000" b="1">
                <a:solidFill>
                  <a:srgbClr val="F8FAFC"/>
                </a:solidFill>
              </a:defRPr>
            </a:pPr>
            <a:r>
              <a:t>Blended Finance Capital Stack, Readiness, KPIs &amp; Scaling Strategy</a:t>
            </a:r>
          </a:p>
          <a:p>
            <a:pPr>
              <a:defRPr sz="1100">
                <a:solidFill>
                  <a:srgbClr val="F0C860"/>
                </a:solidFill>
              </a:defRPr>
            </a:pPr>
            <a:r>
              <a:t>4. Budget &amp; Financiers | 5. Readiness Status | 6. Expected Results &amp; Scaling Pathway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12080" cy="2560320"/>
          </a:xfrm>
          <a:prstGeom prst="roundRect">
            <a:avLst/>
          </a:prstGeom>
          <a:solidFill>
            <a:srgbClr val="0F2240"/>
          </a:solidFill>
          <a:ln w="12700">
            <a:solidFill>
              <a:srgbClr val="15B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484632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 b="1">
                <a:solidFill>
                  <a:srgbClr val="F0C860"/>
                </a:solidFill>
              </a:defRPr>
            </a:pPr>
            <a:r>
              <a:t>💰 1. Total Investment ($420M) &amp; Blended Capital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4846320" cy="19659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880">
                <a:solidFill>
                  <a:srgbClr val="F8FAFC"/>
                </a:solidFill>
              </a:defRPr>
            </a:pPr>
            <a:r>
              <a:t>• Total CAPEX: USD 420 Million ($4,200/feddan all-inclusive vs. $1,800/feddan baseline drainage).</a:t>
            </a:r>
          </a:p>
          <a:p>
            <a:pPr>
              <a:defRPr sz="880">
                <a:solidFill>
                  <a:srgbClr val="F8FAFC"/>
                </a:solidFill>
              </a:defRPr>
            </a:pPr>
            <a:r>
              <a:t>• 15% Grants / TA ($63M): GCF Readiness, AfDB, GEF for Feasibility, 10-feddan pilot, Digital Twin.</a:t>
            </a:r>
          </a:p>
          <a:p>
            <a:pPr>
              <a:defRPr sz="880">
                <a:solidFill>
                  <a:srgbClr val="F8FAFC"/>
                </a:solidFill>
              </a:defRPr>
            </a:pPr>
            <a:r>
              <a:t>• 20% Government Equity ($84M): In-kind land for wetlands, existing pump stations, EPADP engineering staff.</a:t>
            </a:r>
          </a:p>
          <a:p>
            <a:pPr>
              <a:defRPr sz="880">
                <a:solidFill>
                  <a:srgbClr val="F8FAFC"/>
                </a:solidFill>
              </a:defRPr>
            </a:pPr>
            <a:r>
              <a:t>• 40% Concessional Debt ($168M): World Bank (NDP V), AfDB, IsDB (20–25 yr tenor, long grace period).</a:t>
            </a:r>
          </a:p>
          <a:p>
            <a:pPr>
              <a:defRPr sz="880">
                <a:solidFill>
                  <a:srgbClr val="F8FAFC"/>
                </a:solidFill>
              </a:defRPr>
            </a:pPr>
            <a:r>
              <a:t>• 25% Commercial Debt / PPP ($105M): Private solar developers secured by solar PPA and energy savings.</a:t>
            </a:r>
          </a:p>
          <a:p>
            <a:pPr>
              <a:defRPr sz="880">
                <a:solidFill>
                  <a:srgbClr val="F8FAFC"/>
                </a:solidFill>
              </a:defRPr>
            </a:pPr>
            <a:r>
              <a:t>• Financial Returns: Project EIRR: 21.4% | DSCR: 1.35x (stress tested) | Payback: 8 years.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160520"/>
            <a:ext cx="5212080" cy="2240280"/>
          </a:xfrm>
          <a:prstGeom prst="roundRect">
            <a:avLst/>
          </a:prstGeom>
          <a:solidFill>
            <a:srgbClr val="0F2240"/>
          </a:solidFill>
          <a:ln w="12700">
            <a:solidFill>
              <a:srgbClr val="15B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297680"/>
            <a:ext cx="484632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 b="1">
                <a:solidFill>
                  <a:srgbClr val="15B5A4"/>
                </a:solidFill>
              </a:defRPr>
            </a:pPr>
            <a:r>
              <a:t>🎯 2. Funding Call Fit Score Assessment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663440"/>
            <a:ext cx="4846320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880">
                <a:solidFill>
                  <a:srgbClr val="F8FAFC"/>
                </a:solidFill>
              </a:defRPr>
            </a:pPr>
            <a:r>
              <a:t>• Green Climate Fund (GCF) Adaptation Window: 14/14 Score (Decision: GO) — Perfect match for transformational adaptation, mitigation co-benefits, and MRV automation.</a:t>
            </a:r>
          </a:p>
          <a:p>
            <a:pPr>
              <a:defRPr sz="880">
                <a:solidFill>
                  <a:srgbClr val="F8FAFC"/>
                </a:solidFill>
              </a:defRPr>
            </a:pPr>
            <a:r>
              <a:t>• Adaptation Fund: 13/14 Score (Decision: GO for Component / 10-feddan Pilot Submission).</a:t>
            </a:r>
          </a:p>
          <a:p>
            <a:pPr>
              <a:defRPr sz="880">
                <a:solidFill>
                  <a:srgbClr val="F8FAFC"/>
                </a:solidFill>
              </a:defRPr>
            </a:pPr>
            <a:r>
              <a:t>• PRIMA &amp; EU Global Gateway: High Fit for Euro-Mediterranean digital water management, circular agriculture, and climate resilience.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242255" cy="2240280"/>
          </a:xfrm>
          <a:prstGeom prst="roundRect">
            <a:avLst/>
          </a:prstGeom>
          <a:solidFill>
            <a:srgbClr val="0F2240"/>
          </a:solidFill>
          <a:ln w="12700">
            <a:solidFill>
              <a:srgbClr val="15B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600200"/>
            <a:ext cx="4876495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🚀 3. Implementation Readiness &amp; 10-Feddan Pilot Unit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965960"/>
            <a:ext cx="4876495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880">
                <a:solidFill>
                  <a:srgbClr val="F8FAFC"/>
                </a:solidFill>
              </a:defRPr>
            </a:pPr>
            <a:r>
              <a:t>• Institutional Maturity: Built on EPADP's 50-year delivery platform (6M feddans installed); eliminates construction and execution risks.</a:t>
            </a:r>
          </a:p>
          <a:p>
            <a:pPr>
              <a:defRPr sz="880">
                <a:solidFill>
                  <a:srgbClr val="F8FAFC"/>
                </a:solidFill>
              </a:defRPr>
            </a:pPr>
            <a:r>
              <a:t>• 10-Feddan Pilot Validation Unit: Engineered for immediate launch on a single isolated collector network to test dynamic capillary rise and IoT valve loops before scaling.</a:t>
            </a:r>
          </a:p>
          <a:p>
            <a:pPr>
              <a:defRPr sz="880">
                <a:solidFill>
                  <a:srgbClr val="F8FAFC"/>
                </a:solidFill>
              </a:defRPr>
            </a:pPr>
            <a:r>
              <a:t>• Technology Readiness Level: High TRL (TRL 8-9) for HDPE pipes, solar PV, and LoRaWAN/NB-IoT ESP32 hardware.</a:t>
            </a:r>
          </a:p>
          <a:p>
            <a:pPr>
              <a:defRPr sz="880">
                <a:solidFill>
                  <a:srgbClr val="F8FAFC"/>
                </a:solidFill>
              </a:defRPr>
            </a:pPr>
            <a:r>
              <a:t>• Immediate Next Step: Request Project Preparation Facility (PPF) Grant ($1.5M) from GCF/AfDB for site-specific feasibility in Kafr El-Sheikh.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840480"/>
            <a:ext cx="5242255" cy="2560320"/>
          </a:xfrm>
          <a:prstGeom prst="roundRect">
            <a:avLst/>
          </a:prstGeom>
          <a:solidFill>
            <a:srgbClr val="0F2240"/>
          </a:solidFill>
          <a:ln w="12700">
            <a:solidFill>
              <a:srgbClr val="15B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977640"/>
            <a:ext cx="4876495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 b="1">
                <a:solidFill>
                  <a:srgbClr val="F8FAFC"/>
                </a:solidFill>
              </a:defRPr>
            </a:pPr>
            <a:r>
              <a:t>📈 4. Main Expected Results &amp; Regional Scaling Pathway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343400"/>
            <a:ext cx="4876495" cy="19659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850">
                <a:solidFill>
                  <a:srgbClr val="F0C860"/>
                </a:solidFill>
              </a:defRPr>
            </a:pPr>
            <a:r>
              <a:t>Core Quantified KPIs (Target: 100,000 Feddans): 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• 150 Million m³/yr water saved (smart controlled capillary drainage).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• 15–25% crop yield boost across 200,000+ direct beneficiary farmers.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• 50 MW solar installed &amp; 90 GWh/yr clean energy produced.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• 80% reduction in tampering incidents + failure detection from weeks to 1 hour.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• 100,000 tCO₂e/yr emissions reduced via solar energy and restored wetlands.</a:t>
            </a:r>
          </a:p>
          <a:p>
            <a:pPr>
              <a:defRPr sz="850">
                <a:solidFill>
                  <a:srgbClr val="F0C860"/>
                </a:solidFill>
              </a:defRPr>
            </a:pPr>
            <a:r>
              <a:t>Replication &amp; Scaling Strategy: Phase 1: 10-feddan pilot (Yr 1) -&gt; Phase 2: 100k feddans core pilot (Yrs 2-5) -&gt; Phase 3: Scaling across 4.3M feddans of Delta drainage and exporting model to Iraq, Jordan, and Pakistan.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