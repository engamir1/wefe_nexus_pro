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00:00-01:40  Problem: 560 m3 per capita, 2.3M feddans past design life, 25-40% of failures from tampering. Solution: invisible buried chambers with RFID/GPS and shock alerts. Lead: MWRI/EPADP with DRI, MALR, NREA, EgyptERA and WUAs.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01:40-03:30  Four WEFE interventions: 150M m3 water saved, 50 MW solar, +15-25% yields, 20 wetlands. Composite WEFE score 92/100. Bankability: self-funded OPEX, avoided cost, diversified revenue, no displacement.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03:30-05:00  USD 420M blended finance (15/20/40/25). Funding fit: GCF 14/14, Adaptation Fund 13/14. Ready: 10-feddan pilot, TRL 8-9, PPF request. Scaling: 10 feddans, 100k feddans, 4.3M feddans in the Delta, then Iraq, Jordan and Pakistan.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20" y="274320"/>
            <a:ext cx="10728655" cy="1133856"/>
            <a:chOff x="731520" y="274320"/>
            <a:chExt cx="10728655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SLIDE 1 OF 3  |  5-MINUTE EXECUTIVE PITCH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Eco-Drain: Invisible, Tamper-Proof Subsurface Drainage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Climate-resilient retrofit of 100,000 feddans in Egypt's Nile Delta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731520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Eco-Drain  |  Group 10  |  EPADP Technical Office, Lower Egypt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45775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1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1520" y="1554480"/>
            <a:ext cx="3566160" cy="2103120"/>
            <a:chOff x="731520" y="1554480"/>
            <a:chExt cx="3566160" cy="2103120"/>
          </a:xfrm>
        </p:grpSpPr>
        <p:sp>
          <p:nvSpPr>
            <p:cNvPr id="13" name="Rounded Rectangle 12"/>
            <p:cNvSpPr/>
            <p:nvPr/>
          </p:nvSpPr>
          <p:spPr>
            <a:xfrm>
              <a:off x="731520" y="1554480"/>
              <a:ext cx="3566160" cy="2103120"/>
            </a:xfrm>
            <a:prstGeom prst="roundRect">
              <a:avLst>
                <a:gd name="adj" fmla="val 8695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1_subsurface_drain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7360" y="1691639"/>
              <a:ext cx="1554479" cy="1554479"/>
            </a:xfrm>
            <a:prstGeom prst="roundRect">
              <a:avLst>
                <a:gd name="adj" fmla="val 8235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68680" y="3328416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Subsurface drainage retrofit concept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31520" y="3749039"/>
            <a:ext cx="3566160" cy="822960"/>
            <a:chOff x="731520" y="3749039"/>
            <a:chExt cx="3566160" cy="822960"/>
          </a:xfrm>
        </p:grpSpPr>
        <p:sp>
          <p:nvSpPr>
            <p:cNvPr id="17" name="Rounded Rectangle 16"/>
            <p:cNvSpPr/>
            <p:nvPr/>
          </p:nvSpPr>
          <p:spPr>
            <a:xfrm>
              <a:off x="731520" y="3749039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F871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2960" y="3749039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en-US">
                  <a:solidFill>
                    <a:srgbClr val="F87171"/>
                  </a:solidFill>
                  <a:latin typeface="Segoe UI"/>
                  <a:ea typeface="Segoe UI"/>
                  <a:cs typeface="Segoe UI"/>
                </a:rPr>
                <a:t>560 m³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40280" y="3794759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water per capita per year, below the 1,000 m³ poverty line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31520" y="4636007"/>
            <a:ext cx="3566160" cy="822960"/>
            <a:chOff x="731520" y="4636007"/>
            <a:chExt cx="3566160" cy="822960"/>
          </a:xfrm>
        </p:grpSpPr>
        <p:sp>
          <p:nvSpPr>
            <p:cNvPr id="21" name="Rounded Rectangle 20"/>
            <p:cNvSpPr/>
            <p:nvPr/>
          </p:nvSpPr>
          <p:spPr>
            <a:xfrm>
              <a:off x="731520" y="4636007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2960" y="4636007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2.3M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40280" y="4681727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feddans of drainage networks past their design life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31520" y="5522975"/>
            <a:ext cx="3566160" cy="822960"/>
            <a:chOff x="731520" y="5522975"/>
            <a:chExt cx="3566160" cy="822960"/>
          </a:xfrm>
        </p:grpSpPr>
        <p:sp>
          <p:nvSpPr>
            <p:cNvPr id="25" name="Rounded Rectangle 24"/>
            <p:cNvSpPr/>
            <p:nvPr/>
          </p:nvSpPr>
          <p:spPr>
            <a:xfrm>
              <a:off x="731520" y="5522975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2960" y="5522975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25–40%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40280" y="5568695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of drainage failures caused by tampering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07408" y="1554480"/>
            <a:ext cx="7052767" cy="2514600"/>
            <a:chOff x="4407408" y="1554480"/>
            <a:chExt cx="7052767" cy="2514600"/>
          </a:xfrm>
        </p:grpSpPr>
        <p:sp>
          <p:nvSpPr>
            <p:cNvPr id="29" name="Rounded Rectangle 28"/>
            <p:cNvSpPr/>
            <p:nvPr/>
          </p:nvSpPr>
          <p:spPr>
            <a:xfrm>
              <a:off x="4407408" y="1554480"/>
              <a:ext cx="7052767" cy="2514600"/>
            </a:xfrm>
            <a:prstGeom prst="roundRect">
              <a:avLst>
                <a:gd name="adj" fmla="val 7272"/>
              </a:avLst>
            </a:prstGeom>
            <a:solidFill>
              <a:srgbClr val="0F2240"/>
            </a:solidFill>
            <a:ln w="15875">
              <a:solidFill>
                <a:srgbClr val="F871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608576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91456" y="16642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F87171"/>
                  </a:solidFill>
                  <a:latin typeface="Segoe UI"/>
                  <a:ea typeface="Segoe UI"/>
                  <a:cs typeface="Segoe UI"/>
                </a:rPr>
                <a:t>Problem addressed and invisible solution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36008" y="2103120"/>
              <a:ext cx="6595567" cy="189280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Ageing networks: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Delta drainage is past its 20–25 year design life, causing waterlogging, salinity and 10–30% yield loss.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Hidden failures: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buried pipes cannot be inspected, so faults go unseen for years.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Tampering: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farmers block surface manholes to pool rice water, causing 25–40% of failures.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Eco-Drain: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chambers buried 30–50 cm deep, secured by RFID/GPS, with shock sensors (&gt;2.5g) sending encrypted NB-IoT alerts.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407408" y="4160520"/>
            <a:ext cx="7052767" cy="2286000"/>
            <a:chOff x="4407408" y="4160520"/>
            <a:chExt cx="7052767" cy="2286000"/>
          </a:xfrm>
        </p:grpSpPr>
        <p:sp>
          <p:nvSpPr>
            <p:cNvPr id="34" name="Rounded Rectangle 33"/>
            <p:cNvSpPr/>
            <p:nvPr/>
          </p:nvSpPr>
          <p:spPr>
            <a:xfrm>
              <a:off x="4407408" y="4160520"/>
              <a:ext cx="7052767" cy="2286000"/>
            </a:xfrm>
            <a:prstGeom prst="roundRect">
              <a:avLst>
                <a:gd name="adj" fmla="val 8000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608576" y="431596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91456" y="427024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Lead institution, partners and governance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636008" y="4709159"/>
              <a:ext cx="6595567" cy="166420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Lead: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Ministry of Water Resources and Irrigation (MWRI) through EPADP, Technical Office for Lower Egypt.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Partners: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DRI (verification, MRV), MALR (crop advisory), NREA and EgyptERA (50 MW net metering), Water User Associations.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Governance: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inter-ministerial Steering Committee, dedicated PIU in EPADP, local platforms in Kafr El-Sheikh and Dakahlia.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Alignment: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Irrigation 2.0, Egypt Vision 2030, National Climate Strategy 2050.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20" y="274320"/>
            <a:ext cx="10728655" cy="1133856"/>
            <a:chOff x="731520" y="274320"/>
            <a:chExt cx="10728655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SLIDE 2 OF 3  |  5-MINUTE EXECUTIVE PITCH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Integrated WEFE Interventions and Bankability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Four closed-loop interventions, a formal screening score and a resilience scorecard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731520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Eco-Drain  |  Group 10  |  EPADP Technical Office, Lower Egypt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45775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2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1520" y="1554480"/>
            <a:ext cx="3566160" cy="3108960"/>
            <a:chOff x="731520" y="1554480"/>
            <a:chExt cx="3566160" cy="3108960"/>
          </a:xfrm>
        </p:grpSpPr>
        <p:sp>
          <p:nvSpPr>
            <p:cNvPr id="13" name="Rounded Rectangle 12"/>
            <p:cNvSpPr/>
            <p:nvPr/>
          </p:nvSpPr>
          <p:spPr>
            <a:xfrm>
              <a:off x="731520" y="1554480"/>
              <a:ext cx="3566160" cy="3108960"/>
            </a:xfrm>
            <a:prstGeom prst="roundRect">
              <a:avLst>
                <a:gd name="adj" fmla="val 5882"/>
              </a:avLst>
            </a:prstGeom>
            <a:solidFill>
              <a:srgbClr val="0F2240"/>
            </a:solidFill>
            <a:ln w="15875">
              <a:solidFill>
                <a:srgbClr val="60A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2_wefe_nexu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39" y="1691639"/>
              <a:ext cx="2560320" cy="2560320"/>
            </a:xfrm>
            <a:prstGeom prst="roundRect">
              <a:avLst>
                <a:gd name="adj" fmla="val 5000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68680" y="4334255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Water–Energy–Food–Ecosystems nexus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31520" y="4754880"/>
            <a:ext cx="3566160" cy="1691639"/>
            <a:chOff x="731520" y="4754880"/>
            <a:chExt cx="3566160" cy="1691639"/>
          </a:xfrm>
        </p:grpSpPr>
        <p:sp>
          <p:nvSpPr>
            <p:cNvPr id="17" name="Rounded Rectangle 16"/>
            <p:cNvSpPr/>
            <p:nvPr/>
          </p:nvSpPr>
          <p:spPr>
            <a:xfrm>
              <a:off x="731520" y="4754880"/>
              <a:ext cx="3566160" cy="1691639"/>
            </a:xfrm>
            <a:prstGeom prst="roundRect">
              <a:avLst>
                <a:gd name="adj" fmla="val 10810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32688" y="49103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15568" y="4864608"/>
              <a:ext cx="2980944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WEFE screening and resilience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5285232"/>
              <a:ext cx="1600200" cy="54864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3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92/100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606039" y="5394960"/>
              <a:ext cx="1463040" cy="329184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Resilience: HIGH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0120" y="5897880"/>
              <a:ext cx="3108960" cy="502919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Water 10 · Energy 8 · Food 10 · Ecosystems 8 · Digital 9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07408" y="1554480"/>
            <a:ext cx="3471519" cy="1508760"/>
            <a:chOff x="4407408" y="1554480"/>
            <a:chExt cx="3471519" cy="1508760"/>
          </a:xfrm>
        </p:grpSpPr>
        <p:sp>
          <p:nvSpPr>
            <p:cNvPr id="24" name="Rounded Rectangle 23"/>
            <p:cNvSpPr/>
            <p:nvPr/>
          </p:nvSpPr>
          <p:spPr>
            <a:xfrm>
              <a:off x="4407408" y="15544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60A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608576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91456" y="1664207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60A5FA"/>
                  </a:solidFill>
                  <a:latin typeface="Segoe UI"/>
                  <a:ea typeface="Segoe UI"/>
                  <a:cs typeface="Segoe UI"/>
                </a:rPr>
                <a:t>WATER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36008" y="2029967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150M m³/yr saved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36008" y="23408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HDPE and geotextile retrofit with smart gate valves using capillary rise: 25–30% less irrigation water.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988655" y="1554480"/>
            <a:ext cx="3471519" cy="1508760"/>
            <a:chOff x="7988655" y="1554480"/>
            <a:chExt cx="3471519" cy="1508760"/>
          </a:xfrm>
        </p:grpSpPr>
        <p:sp>
          <p:nvSpPr>
            <p:cNvPr id="30" name="Rounded Rectangle 29"/>
            <p:cNvSpPr/>
            <p:nvPr/>
          </p:nvSpPr>
          <p:spPr>
            <a:xfrm>
              <a:off x="7988655" y="15544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89823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72703" y="1664207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ENERGY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217255" y="2029967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50 MW solar · 90 GWh/yr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217255" y="23408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Distributed PV at 25 pump stations cuts pumping bills by 40%; surplus exported via net metering.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407408" y="3154680"/>
            <a:ext cx="3471519" cy="1508760"/>
            <a:chOff x="4407408" y="3154680"/>
            <a:chExt cx="3471519" cy="1508760"/>
          </a:xfrm>
        </p:grpSpPr>
        <p:sp>
          <p:nvSpPr>
            <p:cNvPr id="36" name="Rounded Rectangle 35"/>
            <p:cNvSpPr/>
            <p:nvPr/>
          </p:nvSpPr>
          <p:spPr>
            <a:xfrm>
              <a:off x="4407408" y="31546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608576" y="33101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91456" y="3264408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FOOD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36008" y="3630168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15–25% higher yields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36008" y="39410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Wheat, rice and maize restored for 200,000 farmers, with automatic flushing when salinity rises.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988655" y="3154680"/>
            <a:ext cx="3471519" cy="1508760"/>
            <a:chOff x="7988655" y="3154680"/>
            <a:chExt cx="3471519" cy="1508760"/>
          </a:xfrm>
        </p:grpSpPr>
        <p:sp>
          <p:nvSpPr>
            <p:cNvPr id="42" name="Rounded Rectangle 41"/>
            <p:cNvSpPr/>
            <p:nvPr/>
          </p:nvSpPr>
          <p:spPr>
            <a:xfrm>
              <a:off x="7988655" y="31546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189823" y="33101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72703" y="3264408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ECOSYSTEMS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217255" y="3630168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100k tCO₂/yr · 4,760 feddans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217255" y="39410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20 constructed wetlands treat 200M m³/yr and protect Delta lakes (Verra blue carbon).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407408" y="4754880"/>
            <a:ext cx="7052767" cy="1691639"/>
            <a:chOff x="4407408" y="4754880"/>
            <a:chExt cx="7052767" cy="1691639"/>
          </a:xfrm>
        </p:grpSpPr>
        <p:sp>
          <p:nvSpPr>
            <p:cNvPr id="48" name="Rounded Rectangle 47"/>
            <p:cNvSpPr/>
            <p:nvPr/>
          </p:nvSpPr>
          <p:spPr>
            <a:xfrm>
              <a:off x="4407408" y="4754880"/>
              <a:ext cx="7052767" cy="1691639"/>
            </a:xfrm>
            <a:prstGeom prst="roundRect">
              <a:avLst>
                <a:gd name="adj" fmla="val 10810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608576" y="49103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91456" y="486460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How WEFE integration improves bankability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36008" y="5303520"/>
              <a:ext cx="6595567" cy="106984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Self-funded OPEX: </a:t>
              </a:r>
              <a:r>
                <a:rPr sz="11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solar net metering pays pump power and protects the DSCR (1.35x).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Avoided cost and revenue: </a:t>
              </a:r>
              <a:r>
                <a:rPr sz="11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150M m³/yr is worth about $52.5M; smart-valve payback 0.48 years; $8M energy, $3M export, $5M water, $0.5M carbon per year.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No displacement: </a:t>
              </a:r>
              <a:r>
                <a:rPr sz="11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in-situ retrofit with zero resettlement or community conflict.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20" y="274320"/>
            <a:ext cx="10728655" cy="1133856"/>
            <a:chOff x="731520" y="274320"/>
            <a:chExt cx="10728655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SLIDE 3 OF 3  |  5-MINUTE EXECUTIVE PITCH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Capital Stack, Readiness and Expected Results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USD 420M blended finance, a ready 10-feddan pilot and a three-stage scaling pathway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731520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Eco-Drain  |  Group 10  |  EPADP Technical Office, Lower Egypt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45775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3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1520" y="1554480"/>
            <a:ext cx="3566160" cy="2331720"/>
            <a:chOff x="731520" y="1554480"/>
            <a:chExt cx="3566160" cy="2331720"/>
          </a:xfrm>
        </p:grpSpPr>
        <p:sp>
          <p:nvSpPr>
            <p:cNvPr id="13" name="Rounded Rectangle 12"/>
            <p:cNvSpPr/>
            <p:nvPr/>
          </p:nvSpPr>
          <p:spPr>
            <a:xfrm>
              <a:off x="731520" y="1554480"/>
              <a:ext cx="3566160" cy="2331720"/>
            </a:xfrm>
            <a:prstGeom prst="roundRect">
              <a:avLst>
                <a:gd name="adj" fmla="val 7843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5_capital_stac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3060" y="1691639"/>
              <a:ext cx="1783080" cy="1783080"/>
            </a:xfrm>
            <a:prstGeom prst="roundRect">
              <a:avLst>
                <a:gd name="adj" fmla="val 7179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68680" y="3557016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Blended-finance capital stack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31520" y="3977639"/>
            <a:ext cx="3566160" cy="2468880"/>
            <a:chOff x="731520" y="3977639"/>
            <a:chExt cx="3566160" cy="2468880"/>
          </a:xfrm>
        </p:grpSpPr>
        <p:sp>
          <p:nvSpPr>
            <p:cNvPr id="17" name="Rounded Rectangle 16"/>
            <p:cNvSpPr/>
            <p:nvPr/>
          </p:nvSpPr>
          <p:spPr>
            <a:xfrm>
              <a:off x="731520" y="3977639"/>
              <a:ext cx="3566160" cy="2468880"/>
            </a:xfrm>
            <a:prstGeom prst="roundRect">
              <a:avLst>
                <a:gd name="adj" fmla="val 7407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32688" y="4133087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15568" y="4087368"/>
              <a:ext cx="2980944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Funding call fit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32688" y="4562855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14/14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20240" y="4526279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Green Climate Fund</a:t>
              </a:r>
            </a:p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Transformational adaptation and digital MRV. Decision: GO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32688" y="5184647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13/14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20240" y="5148071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Adaptation Fund</a:t>
              </a:r>
            </a:p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Ideal for the pilot component. Decision: GO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2688" y="5806440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High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20240" y="5769864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PRIMA and EU Global Gateway</a:t>
              </a:r>
            </a:p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Water-agri innovation and Euro-Med cooperation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07408" y="1554480"/>
            <a:ext cx="7052767" cy="1645920"/>
            <a:chOff x="4407408" y="1554480"/>
            <a:chExt cx="7052767" cy="1645920"/>
          </a:xfrm>
        </p:grpSpPr>
        <p:sp>
          <p:nvSpPr>
            <p:cNvPr id="27" name="Rounded Rectangle 26"/>
            <p:cNvSpPr/>
            <p:nvPr/>
          </p:nvSpPr>
          <p:spPr>
            <a:xfrm>
              <a:off x="4407408" y="1554480"/>
              <a:ext cx="7052767" cy="1645920"/>
            </a:xfrm>
            <a:prstGeom prst="roundRect">
              <a:avLst>
                <a:gd name="adj" fmla="val 11111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608576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91456" y="16642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Budget: USD 420M ($4,200 per feddan)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36008" y="2084831"/>
              <a:ext cx="6595567" cy="1042416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15% grants ($63M):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GCF, AfDB, EU for pilot, digital twin and capacity.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20% government ($84M):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in-kind land, pump stations, EPADP staff.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40% concessional debt ($168M):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World Bank, AfDB, 20–25 year tenor.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25% PPP / commercial ($105M): </a:t>
              </a:r>
              <a:r>
                <a:rPr sz="120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solar developers under PPA. EIRR 21.4%.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07408" y="3291840"/>
            <a:ext cx="7052767" cy="1371600"/>
            <a:chOff x="4407408" y="3291840"/>
            <a:chExt cx="7052767" cy="1371600"/>
          </a:xfrm>
        </p:grpSpPr>
        <p:sp>
          <p:nvSpPr>
            <p:cNvPr id="32" name="Rounded Rectangle 31"/>
            <p:cNvSpPr/>
            <p:nvPr/>
          </p:nvSpPr>
          <p:spPr>
            <a:xfrm>
              <a:off x="4407408" y="3291840"/>
              <a:ext cx="7052767" cy="1371600"/>
            </a:xfrm>
            <a:prstGeom prst="roundRect">
              <a:avLst>
                <a:gd name="adj" fmla="val 13333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08576" y="344728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91456" y="340156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Current readiness status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636008" y="3822191"/>
              <a:ext cx="6595567" cy="768096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0" algn="l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Track record: </a:t>
              </a: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EPADP's 50 years, 6M feddans installed, TRL 8–9 technologies.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Pilot ready: </a:t>
              </a: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10-feddan unit on an isolated collector to validate before scale-up.</a:t>
              </a:r>
            </a:p>
            <a:p>
              <a:pPr rtl="0" algn="l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Next step: </a:t>
              </a:r>
              <a:r>
                <a:rPr sz="11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$1.5M PPF grant request to GCF/AfDB for Kafr El-Sheikh feasibility.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407408" y="4754879"/>
            <a:ext cx="7052767" cy="1600200"/>
            <a:chOff x="4407408" y="4754879"/>
            <a:chExt cx="7052767" cy="1600200"/>
          </a:xfrm>
        </p:grpSpPr>
        <p:sp>
          <p:nvSpPr>
            <p:cNvPr id="37" name="Rounded Rectangle 36"/>
            <p:cNvSpPr/>
            <p:nvPr/>
          </p:nvSpPr>
          <p:spPr>
            <a:xfrm>
              <a:off x="4407408" y="4754879"/>
              <a:ext cx="7052767" cy="1600200"/>
            </a:xfrm>
            <a:prstGeom prst="roundRect">
              <a:avLst>
                <a:gd name="adj" fmla="val 11428"/>
              </a:avLst>
            </a:prstGeom>
            <a:solidFill>
              <a:srgbClr val="0F2240"/>
            </a:solidFill>
            <a:ln w="15875">
              <a:solidFill>
                <a:srgbClr val="F8FAF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608576" y="4910327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91456" y="48646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l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en-US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Expected results (KPIs) and scaling pathway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636008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36008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150M m³</a:t>
              </a:r>
            </a:p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water saved / yr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307759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07759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15–25%</a:t>
              </a:r>
            </a:p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yield increase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979511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79511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90 GWh</a:t>
              </a:r>
            </a:p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clean energy / yr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651263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651263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en-US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80%</a:t>
              </a:r>
            </a:p>
            <a:p>
              <a:pPr rtl="0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en-US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less tampering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636008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 · Pilot 10 feddans (Yr 1)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865010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2 · Core 100k feddans (Yr 2–5)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9094012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0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en-US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3 · Scale 4.3M feddans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